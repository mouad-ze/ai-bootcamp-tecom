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74" r:id="rId3"/>
    <p:sldId id="270" r:id="rId4"/>
    <p:sldId id="258" r:id="rId5"/>
    <p:sldId id="271" r:id="rId6"/>
    <p:sldId id="272" r:id="rId7"/>
    <p:sldId id="259" r:id="rId8"/>
    <p:sldId id="260" r:id="rId9"/>
    <p:sldId id="261" r:id="rId10"/>
    <p:sldId id="275" r:id="rId11"/>
    <p:sldId id="262" r:id="rId12"/>
    <p:sldId id="263" r:id="rId13"/>
    <p:sldId id="264" r:id="rId14"/>
    <p:sldId id="273" r:id="rId15"/>
    <p:sldId id="278" r:id="rId16"/>
    <p:sldId id="276" r:id="rId17"/>
    <p:sldId id="277" r:id="rId18"/>
    <p:sldId id="265" r:id="rId19"/>
    <p:sldId id="266" r:id="rId20"/>
    <p:sldId id="267" r:id="rId21"/>
  </p:sldIdLst>
  <p:sldSz cx="12192000" cy="6858000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Urbanist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24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Accuracy</a:t>
            </a:r>
            <a:r>
              <a:rPr lang="fr-FR" dirty="0"/>
              <a:t>= Correct/All </a:t>
            </a:r>
            <a:r>
              <a:rPr lang="fr-FR" dirty="0" err="1"/>
              <a:t>Predictions</a:t>
            </a:r>
            <a:endParaRPr lang="fr-FR" dirty="0"/>
          </a:p>
          <a:p>
            <a:r>
              <a:rPr lang="fr-FR" dirty="0" err="1"/>
              <a:t>Precision</a:t>
            </a:r>
            <a:r>
              <a:rPr lang="fr-FR" dirty="0"/>
              <a:t>= </a:t>
            </a:r>
            <a:r>
              <a:rPr lang="fr-FR" dirty="0" err="1"/>
              <a:t>True</a:t>
            </a:r>
            <a:r>
              <a:rPr lang="fr-FR" dirty="0"/>
              <a:t> Positives/All Positives</a:t>
            </a:r>
          </a:p>
          <a:p>
            <a:r>
              <a:rPr lang="fr-FR" dirty="0" err="1"/>
              <a:t>Recall</a:t>
            </a:r>
            <a:r>
              <a:rPr lang="fr-FR" dirty="0"/>
              <a:t>= </a:t>
            </a:r>
            <a:r>
              <a:rPr lang="fr-FR" dirty="0" err="1"/>
              <a:t>True</a:t>
            </a:r>
            <a:r>
              <a:rPr lang="fr-FR" dirty="0"/>
              <a:t> Positives/ </a:t>
            </a:r>
            <a:r>
              <a:rPr lang="fr-FR" dirty="0" err="1"/>
              <a:t>True</a:t>
            </a:r>
            <a:r>
              <a:rPr lang="fr-FR" dirty="0"/>
              <a:t> Positives+ False </a:t>
            </a:r>
            <a:r>
              <a:rPr lang="fr-FR" dirty="0" err="1"/>
              <a:t>Negatives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54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Science Foundations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1733550"/>
            <a:ext cx="952500" cy="571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429000"/>
            <a:ext cx="11049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Class</a:t>
            </a:r>
            <a:r>
              <a:rPr lang="en-US" sz="320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2: Exploration, Preprocessing &amp; Evaluation</a:t>
            </a:r>
            <a:endParaRPr sz="320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9052" y="5868948"/>
            <a:ext cx="1217294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Ai Bootcamp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17D4B-1AEE-0DFD-5136-1A3E6EF40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Infographic Data Visualisation Statistics Charts Design | Premium AI ...">
            <a:extLst>
              <a:ext uri="{FF2B5EF4-FFF2-40B4-BE49-F238E27FC236}">
                <a16:creationId xmlns:a16="http://schemas.microsoft.com/office/drawing/2014/main" id="{77728E58-8A84-42A5-840E-71A184534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-1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97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B1CA18-C41F-0D40-820E-D1314BA22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1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135683"/>
            <a:ext cx="5334000" cy="3520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1: KNOW YOUR DATA TYPES</a:t>
            </a:r>
            <a:endParaRPr dirty="0"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364283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Numerical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Numbers you can calculate.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3812083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Categorical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Labels or groups.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2154733"/>
            <a:ext cx="5295900" cy="348198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19150" y="2935783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2935783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Continuous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180.5 cm, 25.4°C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19150" y="3278683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52500" y="3278683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Discrete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4 children, 10 cars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19150" y="4383583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52500" y="4383583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Nominal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Gender, Eye color (No order)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19150" y="4726483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52500" y="4726483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Ordinal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Grades (A, B, C), Satisfaction levels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754A3A-2971-1693-0DF3-CE5B09AE34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6EE7CE-D92D-48BE-9C61-A41AD9595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3300" y="1504950"/>
            <a:ext cx="4267200" cy="5350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6400800" cy="268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52740"/>
            <a:ext cx="6400800" cy="248007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STORAGE FORMATS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91400" y="1123950"/>
            <a:ext cx="4229100" cy="531256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71525" y="1704975"/>
            <a:ext cx="63007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CSV (Comma Separated)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71525" y="2162175"/>
            <a:ext cx="600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"Shopping List" format. Simple rows and columns.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4575571"/>
            <a:ext cx="63007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JSON (Key-Value)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71525" y="5032771"/>
            <a:ext cx="600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"Filing Cabinet" format. Hierarchical and flexible.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76475"/>
            <a:ext cx="53340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PANDAS "DATAFRAME"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000125" y="2886075"/>
            <a:ext cx="4524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the 2D table that exists in your computer's memory while you code.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00125" y="3800475"/>
            <a:ext cx="4524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"activates" a CSV so you can: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• Filter rows instantly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• Calculate averages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• Merge multiple files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E93A9C-9E8E-F23C-32C5-AD151B33B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711903"/>
            <a:ext cx="5525099" cy="19480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200275"/>
            <a:ext cx="53340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ESSENTIAL TOOLBOX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2428875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1. Pandas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Your table manager.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3000375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2. NumPy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The engine for fast math.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3571875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3. Scikit-learn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The ML Brain.</a:t>
            </a:r>
            <a:endParaRPr dirty="0"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2219325"/>
            <a:ext cx="52959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urvivorship Bias In Financial Resilience – Dragos Roua">
            <a:extLst>
              <a:ext uri="{FF2B5EF4-FFF2-40B4-BE49-F238E27FC236}">
                <a16:creationId xmlns:a16="http://schemas.microsoft.com/office/drawing/2014/main" id="{957CAFE4-38B5-B912-BC6E-02A2A1201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059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62225"/>
            <a:ext cx="53340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562225"/>
            <a:ext cx="53340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581525"/>
            <a:ext cx="53340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4581525"/>
            <a:ext cx="5334000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2: EXPLORATION (EDA)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18002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Before modeling, we must </a:t>
            </a: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look at the data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find:</a:t>
            </a:r>
            <a:endParaRPr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8962" y="2762250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648176" y="3286125"/>
            <a:ext cx="51806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Missing Values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71525" y="3619500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Are there gaps (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NaN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) in the rows?</a:t>
            </a:r>
            <a:endParaRPr dirty="0"/>
          </a:p>
        </p:txBody>
      </p:sp>
      <p:pic>
        <p:nvPicPr>
          <p:cNvPr id="174" name="Google Shape;1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29675" y="276225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6363176" y="3286125"/>
            <a:ext cx="51806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Distributions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486525" y="3619500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Is the data balanced or skewed?</a:t>
            </a:r>
            <a:endParaRPr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14675" y="478155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648176" y="5305425"/>
            <a:ext cx="51806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Outliers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71525" y="5638800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Are there impossible values (Age: 999)?</a:t>
            </a:r>
            <a:endParaRPr dirty="0"/>
          </a:p>
        </p:txBody>
      </p:sp>
      <p:pic>
        <p:nvPicPr>
          <p:cNvPr id="180" name="Google Shape;18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72525" y="478155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6363176" y="5305425"/>
            <a:ext cx="51806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Correlations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486525" y="5638800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 two columns move together?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EDA: CODING Example</a:t>
            </a:r>
            <a:endParaRPr dirty="0"/>
          </a:p>
        </p:txBody>
      </p:sp>
      <p:sp>
        <p:nvSpPr>
          <p:cNvPr id="188" name="Google Shape;188;p20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DCE40C-CBE2-FC54-006D-7DD2F8446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90" y="1674472"/>
            <a:ext cx="9942325" cy="35090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3: PREPROCESSING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 descr="Data Preprocessing in Data Mining - GeeksforGeeks">
            <a:extLst>
              <a:ext uri="{FF2B5EF4-FFF2-40B4-BE49-F238E27FC236}">
                <a16:creationId xmlns:a16="http://schemas.microsoft.com/office/drawing/2014/main" id="{35C49C5A-0D66-C076-411C-EEB55E10B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943" y="1543049"/>
            <a:ext cx="7062519" cy="495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9D452-0DF2-4140-F55A-FD1AED8C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6A8FA9B-FE02-467E-8D12-A628DCAA2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6A60D-2834-72EE-A87D-BFABF6673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8895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33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D7F5-3F5D-56D5-F92F-830C9F92D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A Beginner’s Guide To Confusion Matrix: Machine Learning 101">
            <a:extLst>
              <a:ext uri="{FF2B5EF4-FFF2-40B4-BE49-F238E27FC236}">
                <a16:creationId xmlns:a16="http://schemas.microsoft.com/office/drawing/2014/main" id="{49CA853E-2C02-8F82-94C8-189CDFCB5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579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8F0070-9CC3-C467-3C5E-797A18991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33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8D0704-B8F3-6DCC-95F2-E90A23CB1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2"/>
            <a:ext cx="12192000" cy="688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05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73200"/>
            <a:ext cx="5334000" cy="3245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BIAS VS VARIANCE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2292250"/>
            <a:ext cx="5295900" cy="3206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6286500" y="2501800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Bias (Underfitting)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The model is too simple. It misses the target entirely.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286500" y="3473350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Variance (Overfitting)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The model is too complex. It memorizes noise but fails on new data.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286500" y="44449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Goal: The Sweet Spot in the middle!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9991" y="2871787"/>
            <a:ext cx="533400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4: EVALUATION</a:t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571500" y="1478378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How do we know if we succeeded? </a:t>
            </a:r>
            <a:r>
              <a:rPr lang="en-US" sz="1800" b="1" i="0" u="none" strike="noStrike" cap="none" dirty="0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The Golden Rule: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Never test on data the model has already seen.</a:t>
            </a:r>
            <a:endParaRPr dirty="0"/>
          </a:p>
        </p:txBody>
      </p:sp>
      <p:sp>
        <p:nvSpPr>
          <p:cNvPr id="221" name="Google Shape;221;p23"/>
          <p:cNvSpPr txBox="1"/>
          <p:nvPr/>
        </p:nvSpPr>
        <p:spPr>
          <a:xfrm>
            <a:off x="4494962" y="3050002"/>
            <a:ext cx="51806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The 80/20 Split</a:t>
            </a:r>
            <a:endParaRPr dirty="0"/>
          </a:p>
        </p:txBody>
      </p:sp>
      <p:sp>
        <p:nvSpPr>
          <p:cNvPr id="222" name="Google Shape;222;p23"/>
          <p:cNvSpPr txBox="1"/>
          <p:nvPr/>
        </p:nvSpPr>
        <p:spPr>
          <a:xfrm>
            <a:off x="4494962" y="3543919"/>
            <a:ext cx="4933950" cy="469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80% of data for Training.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20% for Testing.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0FC845-36DF-760D-CF15-A5BBE827D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33" y="5035284"/>
            <a:ext cx="9377916" cy="11511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372915"/>
            <a:ext cx="5334000" cy="304561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K-FOLD CROSS VALIDATION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571500" y="2601515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Don't just test once! Split your data into 5 or 10 "folds."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571500" y="351591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Rotate the testing set so every piece of data gets a chance to be the "judge."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71500" y="4277915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This prevents getting a "lucky" split and gives a more honest performance score.</a:t>
            </a:r>
            <a:endParaRPr/>
          </a:p>
        </p:txBody>
      </p:sp>
      <p:pic>
        <p:nvPicPr>
          <p:cNvPr id="233" name="Google Shape;23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2391965"/>
            <a:ext cx="5295900" cy="3007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414</Words>
  <Application>Microsoft Office PowerPoint</Application>
  <PresentationFormat>Widescreen</PresentationFormat>
  <Paragraphs>53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Lato</vt:lpstr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mouad zemzoumi</cp:lastModifiedBy>
  <cp:revision>8</cp:revision>
  <dcterms:modified xsi:type="dcterms:W3CDTF">2026-02-22T13:47:51Z</dcterms:modified>
</cp:coreProperties>
</file>