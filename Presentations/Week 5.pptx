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65" r:id="rId12"/>
    <p:sldId id="266" r:id="rId13"/>
    <p:sldId id="271" r:id="rId14"/>
    <p:sldId id="267" r:id="rId15"/>
    <p:sldId id="272" r:id="rId16"/>
    <p:sldId id="273" r:id="rId17"/>
    <p:sldId id="275" r:id="rId18"/>
    <p:sldId id="274" r:id="rId19"/>
  </p:sldIdLst>
  <p:sldSz cx="12192000" cy="6858000"/>
  <p:notesSz cx="6858000" cy="9144000"/>
  <p:embeddedFontLst>
    <p:embeddedFont>
      <p:font typeface="Inter" panose="020B0604020202020204" charset="0"/>
      <p:regular r:id="rId21"/>
      <p:bold r:id="rId22"/>
      <p:italic r:id="rId23"/>
      <p:boldItalic r:id="rId24"/>
    </p:embeddedFont>
    <p:embeddedFont>
      <p:font typeface="Inter SemiBold" panose="020B0604020202020204" charset="0"/>
      <p:regular r:id="rId25"/>
      <p:bold r:id="rId26"/>
      <p:italic r:id="rId27"/>
      <p:boldItalic r:id="rId28"/>
    </p:embeddedFont>
    <p:embeddedFont>
      <p:font typeface="Urbanist" panose="020B0604020202020204" charset="0"/>
      <p:regular r:id="rId29"/>
      <p:bold r:id="rId30"/>
      <p:italic r:id="rId31"/>
      <p:boldItalic r:id="rId32"/>
    </p:embeddedFont>
    <p:embeddedFont>
      <p:font typeface="Urbanist SemiBold" panose="020B0604020202020204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470" autoAdjust="0"/>
  </p:normalViewPr>
  <p:slideViewPr>
    <p:cSldViewPr snapToGrid="0">
      <p:cViewPr varScale="1">
        <p:scale>
          <a:sx n="54" d="100"/>
          <a:sy n="54" d="100"/>
        </p:scale>
        <p:origin x="1124" y="4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9" Type="http://schemas.openxmlformats.org/officeDocument/2006/relationships/theme" Target="theme/theme1.xml"/><Relationship Id="rId21" Type="http://schemas.openxmlformats.org/officeDocument/2006/relationships/font" Target="fonts/font1.fntdata"/><Relationship Id="rId34" Type="http://schemas.openxmlformats.org/officeDocument/2006/relationships/font" Target="fonts/font1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font" Target="fonts/font13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font" Target="fonts/font1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font" Target="fonts/font15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fr-FR" dirty="0" err="1"/>
              <a:t>Pca</a:t>
            </a:r>
            <a:r>
              <a:rPr lang="fr-FR" dirty="0"/>
              <a:t> </a:t>
            </a:r>
            <a:r>
              <a:rPr lang="fr-FR" dirty="0" err="1"/>
              <a:t>reduces</a:t>
            </a:r>
            <a:r>
              <a:rPr lang="fr-FR" dirty="0"/>
              <a:t> dimensions by </a:t>
            </a:r>
            <a:r>
              <a:rPr lang="fr-FR" dirty="0" err="1"/>
              <a:t>squashing</a:t>
            </a:r>
            <a:r>
              <a:rPr lang="fr-FR" dirty="0"/>
              <a:t> </a:t>
            </a:r>
            <a:r>
              <a:rPr lang="fr-FR" dirty="0" err="1"/>
              <a:t>them</a:t>
            </a:r>
            <a:r>
              <a:rPr lang="fr-FR" dirty="0"/>
              <a:t> </a:t>
            </a:r>
            <a:r>
              <a:rPr lang="fr-FR" dirty="0" err="1"/>
              <a:t>into</a:t>
            </a:r>
            <a:r>
              <a:rPr lang="fr-FR" dirty="0"/>
              <a:t> </a:t>
            </a:r>
            <a:r>
              <a:rPr lang="fr-FR" dirty="0" err="1"/>
              <a:t>different</a:t>
            </a:r>
            <a:r>
              <a:rPr lang="fr-FR" dirty="0"/>
              <a:t> Pcs, </a:t>
            </a:r>
            <a:r>
              <a:rPr lang="fr-FR" dirty="0" err="1"/>
              <a:t>these</a:t>
            </a:r>
            <a:r>
              <a:rPr lang="fr-FR" dirty="0"/>
              <a:t> Pcs </a:t>
            </a:r>
            <a:r>
              <a:rPr lang="fr-FR" dirty="0" err="1"/>
              <a:t>contain</a:t>
            </a:r>
            <a:r>
              <a:rPr lang="fr-FR" dirty="0"/>
              <a:t> the </a:t>
            </a:r>
            <a:r>
              <a:rPr lang="fr-FR" dirty="0" err="1"/>
              <a:t>most</a:t>
            </a:r>
            <a:r>
              <a:rPr lang="fr-FR" dirty="0"/>
              <a:t> </a:t>
            </a:r>
            <a:r>
              <a:rPr lang="fr-FR" dirty="0" err="1"/>
              <a:t>amount</a:t>
            </a:r>
            <a:r>
              <a:rPr lang="fr-FR" dirty="0"/>
              <a:t> of variance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can </a:t>
            </a:r>
            <a:r>
              <a:rPr lang="fr-FR" dirty="0" err="1"/>
              <a:t>explain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the data.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fr-FR" dirty="0"/>
              <a:t>The </a:t>
            </a:r>
            <a:r>
              <a:rPr lang="fr-FR" dirty="0" err="1"/>
              <a:t>squashing</a:t>
            </a:r>
            <a:r>
              <a:rPr lang="fr-FR" dirty="0"/>
              <a:t> </a:t>
            </a:r>
            <a:r>
              <a:rPr lang="fr-FR" dirty="0" err="1"/>
              <a:t>happens</a:t>
            </a:r>
            <a:r>
              <a:rPr lang="fr-FR" dirty="0"/>
              <a:t> by </a:t>
            </a:r>
            <a:r>
              <a:rPr lang="fr-FR" dirty="0" err="1"/>
              <a:t>applying</a:t>
            </a:r>
            <a:r>
              <a:rPr lang="fr-FR" dirty="0"/>
              <a:t> a dot </a:t>
            </a:r>
            <a:r>
              <a:rPr lang="fr-FR" dirty="0" err="1"/>
              <a:t>product</a:t>
            </a:r>
            <a:r>
              <a:rPr lang="fr-FR" dirty="0"/>
              <a:t> </a:t>
            </a:r>
            <a:r>
              <a:rPr lang="fr-FR" dirty="0" err="1"/>
              <a:t>between</a:t>
            </a:r>
            <a:r>
              <a:rPr lang="fr-FR" dirty="0"/>
              <a:t> </a:t>
            </a:r>
            <a:r>
              <a:rPr lang="fr-FR" dirty="0" err="1"/>
              <a:t>features</a:t>
            </a:r>
            <a:r>
              <a:rPr lang="fr-FR" dirty="0"/>
              <a:t> of the </a:t>
            </a:r>
            <a:r>
              <a:rPr lang="fr-FR" dirty="0" err="1"/>
              <a:t>dataset</a:t>
            </a:r>
            <a:r>
              <a:rPr lang="fr-FR" dirty="0"/>
              <a:t> and an </a:t>
            </a:r>
            <a:r>
              <a:rPr lang="fr-FR" dirty="0" err="1"/>
              <a:t>eigenvector</a:t>
            </a:r>
            <a:r>
              <a:rPr lang="fr-FR" dirty="0"/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fr-FR" dirty="0"/>
              <a:t>Most variance </a:t>
            </a:r>
            <a:r>
              <a:rPr lang="fr-FR" dirty="0" err="1"/>
              <a:t>means</a:t>
            </a:r>
            <a:r>
              <a:rPr lang="fr-FR" dirty="0"/>
              <a:t> </a:t>
            </a:r>
            <a:r>
              <a:rPr lang="fr-FR" dirty="0" err="1"/>
              <a:t>most</a:t>
            </a:r>
            <a:r>
              <a:rPr lang="fr-FR" dirty="0"/>
              <a:t> spread, </a:t>
            </a:r>
            <a:r>
              <a:rPr lang="fr-FR" dirty="0" err="1"/>
              <a:t>meaning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Pcs </a:t>
            </a:r>
            <a:r>
              <a:rPr lang="fr-FR" dirty="0" err="1"/>
              <a:t>we</a:t>
            </a:r>
            <a:r>
              <a:rPr lang="fr-FR" dirty="0"/>
              <a:t> re </a:t>
            </a:r>
            <a:r>
              <a:rPr lang="fr-FR" dirty="0" err="1"/>
              <a:t>trying</a:t>
            </a:r>
            <a:r>
              <a:rPr lang="fr-FR" dirty="0"/>
              <a:t> to </a:t>
            </a:r>
            <a:r>
              <a:rPr lang="fr-FR" dirty="0" err="1"/>
              <a:t>keep</a:t>
            </a:r>
            <a:r>
              <a:rPr lang="fr-FR" dirty="0"/>
              <a:t> an angle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holds</a:t>
            </a:r>
            <a:r>
              <a:rPr lang="fr-FR" dirty="0"/>
              <a:t> </a:t>
            </a:r>
            <a:r>
              <a:rPr lang="fr-FR" dirty="0" err="1"/>
              <a:t>most</a:t>
            </a:r>
            <a:r>
              <a:rPr lang="fr-FR" dirty="0"/>
              <a:t> of the data </a:t>
            </a:r>
            <a:r>
              <a:rPr lang="fr-FR" dirty="0" err="1"/>
              <a:t>differences</a:t>
            </a:r>
            <a:r>
              <a:rPr lang="fr-FR" dirty="0"/>
              <a:t>.</a:t>
            </a:r>
            <a:endParaRPr dirty="0"/>
          </a:p>
        </p:txBody>
      </p:sp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We use a </a:t>
            </a:r>
            <a:r>
              <a:rPr lang="en-US" dirty="0" err="1"/>
              <a:t>dendogram</a:t>
            </a:r>
            <a:r>
              <a:rPr lang="en-US" dirty="0"/>
              <a:t> to represent the tree. ( the longer a branch is means there is a bigger distance between two clusters).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We have different types of linkage meaning the "distance" between two groups of points. 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 k choice in k means represents the cut in the tree.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There is also divisive approach less common, that starts with 1 cluster and starts splitting dissimilar groups.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160" name="Google Shape;16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>
          <a:extLst>
            <a:ext uri="{FF2B5EF4-FFF2-40B4-BE49-F238E27FC236}">
              <a16:creationId xmlns:a16="http://schemas.microsoft.com/office/drawing/2014/main" id="{5E4D519E-C801-C1E2-6995-46133CB81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1:notes">
            <a:extLst>
              <a:ext uri="{FF2B5EF4-FFF2-40B4-BE49-F238E27FC236}">
                <a16:creationId xmlns:a16="http://schemas.microsoft.com/office/drawing/2014/main" id="{90244A36-3212-9AB1-A3D2-EF619E248A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indent="-298450"/>
            <a:r>
              <a:rPr lang="en-US" dirty="0"/>
              <a:t>Each neuron has weights and biases to help in feature extraction.</a:t>
            </a:r>
          </a:p>
          <a:p>
            <a:pPr marL="457200" indent="-298450"/>
            <a:r>
              <a:rPr lang="en-US" dirty="0"/>
              <a:t>But if all neurons are taken it would just be a linear mapping.</a:t>
            </a:r>
          </a:p>
          <a:p>
            <a:pPr marL="457200" indent="-298450"/>
            <a:r>
              <a:rPr lang="en-US" dirty="0"/>
              <a:t>The goal of an activation function is to select only neurons whose values are above a certain threshold to enable the network to learn complex patterns.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249" name="Google Shape;249;p11:notes">
            <a:extLst>
              <a:ext uri="{FF2B5EF4-FFF2-40B4-BE49-F238E27FC236}">
                <a16:creationId xmlns:a16="http://schemas.microsoft.com/office/drawing/2014/main" id="{9DB7DC88-8B87-3850-BDED-E6EC80EEF7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629088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 kernel/mask serves as a feature detector that slides through all of the Image pixel.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 activation function serves to activate only certain neurons allowing the network to learn complex patterns.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Pooling serves in reducing the output to make it more interpretable and computationally efficient.</a:t>
            </a:r>
            <a:endParaRPr dirty="0"/>
          </a:p>
        </p:txBody>
      </p:sp>
      <p:sp>
        <p:nvSpPr>
          <p:cNvPr id="232" name="Google Shape;23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9" name="Google Shape;24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>
          <a:extLst>
            <a:ext uri="{FF2B5EF4-FFF2-40B4-BE49-F238E27FC236}">
              <a16:creationId xmlns:a16="http://schemas.microsoft.com/office/drawing/2014/main" id="{09DF973C-FEDF-9130-CA89-5536E94B8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1:notes">
            <a:extLst>
              <a:ext uri="{FF2B5EF4-FFF2-40B4-BE49-F238E27FC236}">
                <a16:creationId xmlns:a16="http://schemas.microsoft.com/office/drawing/2014/main" id="{BA338FB9-7276-68D6-5DB4-66C40656B9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 </a:t>
            </a:r>
            <a:r>
              <a:rPr lang="en-US" dirty="0" err="1"/>
              <a:t>rnn</a:t>
            </a:r>
            <a:r>
              <a:rPr lang="en-US" dirty="0"/>
              <a:t> is a neural network that has a hidden state that acts as a memory feeding the output as an input to the hidden layer each time.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But since the </a:t>
            </a:r>
            <a:r>
              <a:rPr lang="en-US" dirty="0" err="1"/>
              <a:t>rnn</a:t>
            </a:r>
            <a:r>
              <a:rPr lang="en-US" dirty="0"/>
              <a:t> applies the same weights after each iteration it can cause the gradient to become very small (vanish) or very big (explode).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en-US" dirty="0" err="1"/>
              <a:t>Lstm</a:t>
            </a:r>
            <a:r>
              <a:rPr lang="en-US" dirty="0"/>
              <a:t> solves this problem by having an additive update instead of a multiplicative one.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 </a:t>
            </a:r>
            <a:r>
              <a:rPr lang="en-US" dirty="0" err="1"/>
              <a:t>Lstm</a:t>
            </a:r>
            <a:r>
              <a:rPr lang="en-US" dirty="0"/>
              <a:t> is composed of three main gates: </a:t>
            </a:r>
          </a:p>
          <a:p>
            <a:pPr marL="158750" indent="0">
              <a:buNone/>
            </a:pPr>
            <a:r>
              <a:rPr lang="en-US" b="1" dirty="0"/>
              <a:t>Forget Gate:</a:t>
            </a:r>
            <a:r>
              <a:rPr lang="en-US" dirty="0"/>
              <a:t> Decides what information from the past is no longer useful and should be thrown away.</a:t>
            </a:r>
          </a:p>
          <a:p>
            <a:pPr marL="158750" indent="0">
              <a:buNone/>
            </a:pPr>
            <a:r>
              <a:rPr lang="en-US" b="1" dirty="0"/>
              <a:t>Input Gate:</a:t>
            </a:r>
            <a:r>
              <a:rPr lang="en-US" dirty="0"/>
              <a:t> Decides which new information from the current step is worth adding to the long-term memory (Cell State).</a:t>
            </a:r>
          </a:p>
          <a:p>
            <a:pPr marL="158750" indent="0">
              <a:buNone/>
            </a:pPr>
            <a:r>
              <a:rPr lang="en-US" b="1" dirty="0"/>
              <a:t>Output Gate:</a:t>
            </a:r>
            <a:r>
              <a:rPr lang="en-US" dirty="0"/>
              <a:t> Decides which parts of the long-term memory should actually be used as the output for the current moment.</a:t>
            </a:r>
          </a:p>
          <a:p>
            <a:pPr marL="158750" indent="0">
              <a:buNone/>
            </a:pPr>
            <a:endParaRPr lang="en-US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249" name="Google Shape;249;p11:notes">
            <a:extLst>
              <a:ext uri="{FF2B5EF4-FFF2-40B4-BE49-F238E27FC236}">
                <a16:creationId xmlns:a16="http://schemas.microsoft.com/office/drawing/2014/main" id="{D32EEE73-524F-4C85-6D11-27F20205DD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739013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Transformer architecture relies on self attention mechanism means giving the weight and importance of each word within the context of a sentence for instance.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There are three main vectors that it calculates: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Query:</a:t>
            </a:r>
            <a:r>
              <a:rPr lang="en-US" dirty="0"/>
              <a:t> What am I looking for?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Key:</a:t>
            </a:r>
            <a:r>
              <a:rPr lang="en-US" dirty="0"/>
              <a:t> What do I contain?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Value:</a:t>
            </a:r>
            <a:r>
              <a:rPr lang="en-US" dirty="0"/>
              <a:t> What information do I provide if I’m a match?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It also has a positional encoding to situate where the word is within a sentence since it </a:t>
            </a:r>
            <a:r>
              <a:rPr lang="en-US" dirty="0" err="1"/>
              <a:t>doesn</a:t>
            </a:r>
            <a:r>
              <a:rPr lang="en-US" dirty="0"/>
              <a:t> t process sequentially the words.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Feed forward network is a typical neural net so the networks learns patterns from the features.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  <p:sp>
        <p:nvSpPr>
          <p:cNvPr id="269" name="Google Shape;26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>
          <a:extLst>
            <a:ext uri="{FF2B5EF4-FFF2-40B4-BE49-F238E27FC236}">
              <a16:creationId xmlns:a16="http://schemas.microsoft.com/office/drawing/2014/main" id="{B0D04DEB-9DB6-FC40-F6E8-510DA8BD8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1:notes">
            <a:extLst>
              <a:ext uri="{FF2B5EF4-FFF2-40B4-BE49-F238E27FC236}">
                <a16:creationId xmlns:a16="http://schemas.microsoft.com/office/drawing/2014/main" id="{C0D38B4E-24F6-2F63-D681-F08C875344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fr-FR" dirty="0"/>
              <a:t>It merges </a:t>
            </a:r>
            <a:r>
              <a:rPr lang="fr-FR" dirty="0" err="1"/>
              <a:t>between</a:t>
            </a:r>
            <a:r>
              <a:rPr lang="fr-FR" dirty="0"/>
              <a:t> </a:t>
            </a:r>
            <a:r>
              <a:rPr lang="fr-FR" dirty="0" err="1"/>
              <a:t>word</a:t>
            </a:r>
            <a:r>
              <a:rPr lang="fr-FR" dirty="0"/>
              <a:t> </a:t>
            </a:r>
            <a:r>
              <a:rPr lang="fr-FR" dirty="0" err="1"/>
              <a:t>embeding</a:t>
            </a:r>
            <a:r>
              <a:rPr lang="fr-FR" dirty="0"/>
              <a:t> and image </a:t>
            </a:r>
            <a:r>
              <a:rPr lang="fr-FR" dirty="0" err="1"/>
              <a:t>embedings</a:t>
            </a:r>
            <a:r>
              <a:rPr lang="fr-FR" dirty="0"/>
              <a:t> (</a:t>
            </a:r>
            <a:r>
              <a:rPr lang="fr-FR" dirty="0" err="1"/>
              <a:t>vectors</a:t>
            </a:r>
            <a:r>
              <a:rPr lang="fr-FR" dirty="0"/>
              <a:t> </a:t>
            </a:r>
            <a:r>
              <a:rPr lang="fr-FR" dirty="0" err="1"/>
              <a:t>representing</a:t>
            </a:r>
            <a:r>
              <a:rPr lang="fr-FR" dirty="0"/>
              <a:t> </a:t>
            </a:r>
            <a:r>
              <a:rPr lang="fr-FR" dirty="0" err="1"/>
              <a:t>words</a:t>
            </a:r>
            <a:r>
              <a:rPr lang="fr-FR" dirty="0"/>
              <a:t> and images).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</a:pPr>
            <a:r>
              <a:rPr lang="fr-FR" dirty="0"/>
              <a:t>The data </a:t>
            </a:r>
            <a:r>
              <a:rPr lang="fr-FR" dirty="0" err="1"/>
              <a:t>collected</a:t>
            </a:r>
            <a:r>
              <a:rPr lang="fr-FR" dirty="0"/>
              <a:t> </a:t>
            </a:r>
            <a:r>
              <a:rPr lang="fr-FR" dirty="0" err="1"/>
              <a:t>comes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various</a:t>
            </a:r>
            <a:r>
              <a:rPr lang="fr-FR" dirty="0"/>
              <a:t> </a:t>
            </a:r>
            <a:r>
              <a:rPr lang="fr-FR" dirty="0" err="1"/>
              <a:t>websites</a:t>
            </a:r>
            <a:r>
              <a:rPr lang="fr-FR" dirty="0"/>
              <a:t> </a:t>
            </a:r>
            <a:r>
              <a:rPr lang="fr-FR" dirty="0" err="1"/>
              <a:t>where</a:t>
            </a:r>
            <a:r>
              <a:rPr lang="fr-FR" dirty="0"/>
              <a:t> images are </a:t>
            </a:r>
            <a:r>
              <a:rPr lang="fr-FR" dirty="0" err="1"/>
              <a:t>accompanied</a:t>
            </a:r>
            <a:r>
              <a:rPr lang="fr-FR" dirty="0"/>
              <a:t> by captions.</a:t>
            </a:r>
            <a:endParaRPr dirty="0"/>
          </a:p>
        </p:txBody>
      </p:sp>
      <p:sp>
        <p:nvSpPr>
          <p:cNvPr id="249" name="Google Shape;249;p11:notes">
            <a:extLst>
              <a:ext uri="{FF2B5EF4-FFF2-40B4-BE49-F238E27FC236}">
                <a16:creationId xmlns:a16="http://schemas.microsoft.com/office/drawing/2014/main" id="{8115111E-605E-FEA2-86FA-C824C559D7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91844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055494" y="2062311"/>
            <a:ext cx="8081010" cy="1508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Unsupervised Learning &amp;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0" i="0" u="none" strike="noStrike" cap="none">
                <a:solidFill>
                  <a:srgbClr val="06B6D4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Modern Architectures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286000" y="4145808"/>
            <a:ext cx="76200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Week 5: Clustering, and the Evolution of Neural Networks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33525"/>
            <a:ext cx="5286375" cy="399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533525"/>
            <a:ext cx="5286375" cy="3990975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962025" y="1924050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A855F7"/>
                </a:solidFill>
                <a:latin typeface="Urbanist"/>
                <a:ea typeface="Urbanist"/>
                <a:cs typeface="Urbanist"/>
                <a:sym typeface="Urbanist"/>
              </a:rPr>
              <a:t>Supervised Learning (Past)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962025" y="2428875"/>
            <a:ext cx="45053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What happens when we </a:t>
            </a:r>
            <a:r>
              <a:rPr lang="en-US" sz="1500" b="0" i="0" u="none" strike="noStrike" cap="non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have labels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?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6724650" y="1924050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Unsupervised Learning (Today)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6724650" y="2428875"/>
            <a:ext cx="45053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What happens when we </a:t>
            </a:r>
            <a:r>
              <a:rPr lang="en-US" sz="1500" b="0" i="0" u="none" strike="noStrike" cap="none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lack answers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?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1095375" y="28765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1200150" y="2876550"/>
            <a:ext cx="42672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We train algorithms like Decision Trees, SVMs, and KNN.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1095375" y="362902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1200150" y="3629025"/>
            <a:ext cx="42672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goal is to map known inputs (X) to explicit outputs (Y).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1095375" y="43815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1200150" y="4381500"/>
            <a:ext cx="42672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Acts like a teacher holding an answer key to guide the model.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6858000" y="28765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6962775" y="2876550"/>
            <a:ext cx="42672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We only have raw data (X) with absolutely no labels (no Y).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6858000" y="362902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6962775" y="3629025"/>
            <a:ext cx="42672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goal is for the algorithm to find hidden structures or groupings independently.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6858000" y="43815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6962775" y="4381500"/>
            <a:ext cx="42672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Making sense of millions of data points without an answer key.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571500" y="571500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Unsupervised Learning Shift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533525"/>
            <a:ext cx="5286375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 txBox="1"/>
          <p:nvPr/>
        </p:nvSpPr>
        <p:spPr>
          <a:xfrm>
            <a:off x="571500" y="1533525"/>
            <a:ext cx="555069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Grouping by Similarity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571500" y="2000250"/>
            <a:ext cx="5286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Clustering is the task of grouping a set of objects so that items in the same group (a cluster) are more similar to each other than to those in other groups.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571500" y="3057525"/>
            <a:ext cx="5286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Real-World Applications: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704850" y="35052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809625" y="3505200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Customer Segmentation: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Targeting specific demographics in marketing.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704850" y="42576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809625" y="4257675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Image Compression: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Reducing file sizes via color quantization.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704850" y="50101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809625" y="5010150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Anomaly Detection: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Identifying fraud patterns in financial data.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571500" y="571500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Intro to Clustering</a:t>
            </a:r>
            <a:endParaRPr/>
          </a:p>
        </p:txBody>
      </p:sp>
      <p:pic>
        <p:nvPicPr>
          <p:cNvPr id="127" name="Google Shape;127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57875" y="1466850"/>
            <a:ext cx="5715000" cy="441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571500" y="1533525"/>
            <a:ext cx="555069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Dimensionality Reduction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571500" y="2000250"/>
            <a:ext cx="5286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Principal Component Analysis (PCA) transforms a large set of variables into a smaller one that still contains most of the original variance.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571500" y="3057525"/>
            <a:ext cx="5286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Why use PCA before clustering?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704850" y="35052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809625" y="3505200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Reduces Noise: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Strips out less important variables, helping clustering algorithms find the true signal.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704850" y="42576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809625" y="4257675"/>
            <a:ext cx="5048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Curse of Dimensionality: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Distance metrics (used in K-Means) lose meaning in highly dimensional spaces. PCA simplifies the space.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704850" y="53149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809625" y="5314950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Visualization: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Projects 100D data into 2D or 3D spaces so we can visually verify our clusters.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571500" y="571500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Data Prep: Intro to PCA</a:t>
            </a:r>
            <a:endParaRPr/>
          </a:p>
        </p:txBody>
      </p:sp>
      <p:pic>
        <p:nvPicPr>
          <p:cNvPr id="143" name="Google Shape;143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86175" y="2295525"/>
            <a:ext cx="5286374" cy="2724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7"/>
          <p:cNvSpPr txBox="1"/>
          <p:nvPr/>
        </p:nvSpPr>
        <p:spPr>
          <a:xfrm>
            <a:off x="4914900" y="1724025"/>
            <a:ext cx="70408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Finding the Center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4914900" y="2190750"/>
            <a:ext cx="6705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K-Means is one of the most popular clustering algorithms. The </a:t>
            </a:r>
            <a:r>
              <a:rPr lang="en-US" sz="1500" b="0" i="0" u="none" strike="noStrike" cap="none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'K' is a hyperparameter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you must set before running the model.</a:t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4914900" y="2943225"/>
            <a:ext cx="6705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</a:t>
            </a:r>
            <a:r>
              <a:rPr lang="en-US" sz="1500" b="0" i="0" u="none" strike="noStrike" cap="non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'Means' represents the center point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(centroid) of each discovered cluster.</a:t>
            </a:r>
            <a:endParaRPr/>
          </a:p>
        </p:txBody>
      </p:sp>
      <p:sp>
        <p:nvSpPr>
          <p:cNvPr id="152" name="Google Shape;152;p17"/>
          <p:cNvSpPr txBox="1"/>
          <p:nvPr/>
        </p:nvSpPr>
        <p:spPr>
          <a:xfrm>
            <a:off x="4914900" y="3695700"/>
            <a:ext cx="6705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How it thinks: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It assigns data points to the nearest centroid, attempting to keep the clusters as tight, compact, and distinct as mathematically possible.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2195512" y="1533525"/>
            <a:ext cx="619125" cy="104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K</a:t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1423987" y="2676525"/>
            <a:ext cx="21621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1F5F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Number of Clusters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919162" y="3524250"/>
            <a:ext cx="3171825" cy="104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0" b="1" i="0" u="none" strike="noStrike" cap="none">
                <a:solidFill>
                  <a:srgbClr val="A855F7"/>
                </a:solidFill>
                <a:latin typeface="Urbanist"/>
                <a:ea typeface="Urbanist"/>
                <a:cs typeface="Urbanist"/>
                <a:sym typeface="Urbanist"/>
              </a:rPr>
              <a:t>Means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1785937" y="4667250"/>
            <a:ext cx="14382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1F5F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The Centroid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571500" y="571500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K-Means Clustering Concept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8"/>
          <p:cNvSpPr txBox="1"/>
          <p:nvPr/>
        </p:nvSpPr>
        <p:spPr>
          <a:xfrm>
            <a:off x="571500" y="571500"/>
            <a:ext cx="52006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Hierarchical Clustering</a:t>
            </a:r>
            <a:endParaRPr/>
          </a:p>
        </p:txBody>
      </p:sp>
      <p:sp>
        <p:nvSpPr>
          <p:cNvPr id="165" name="Google Shape;165;p18"/>
          <p:cNvSpPr txBox="1"/>
          <p:nvPr/>
        </p:nvSpPr>
        <p:spPr>
          <a:xfrm>
            <a:off x="571500" y="1343025"/>
            <a:ext cx="52006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Building the Family Tree of Data</a:t>
            </a:r>
            <a:endParaRPr/>
          </a:p>
        </p:txBody>
      </p:sp>
      <p:sp>
        <p:nvSpPr>
          <p:cNvPr id="166" name="Google Shape;166;p18"/>
          <p:cNvSpPr txBox="1"/>
          <p:nvPr/>
        </p:nvSpPr>
        <p:spPr>
          <a:xfrm>
            <a:off x="571500" y="180975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Instead of guessing "K" at the beginning, we build a continuous hierarchy of clusters step-by-step.</a:t>
            </a:r>
            <a:endParaRPr dirty="0"/>
          </a:p>
        </p:txBody>
      </p:sp>
      <p:sp>
        <p:nvSpPr>
          <p:cNvPr id="167" name="Google Shape;167;p18"/>
          <p:cNvSpPr txBox="1"/>
          <p:nvPr/>
        </p:nvSpPr>
        <p:spPr>
          <a:xfrm>
            <a:off x="571500" y="2609850"/>
            <a:ext cx="49530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Agglomerative (Bottom-Up):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Every single data point starts as its own isolated cluster. We find the two closest clusters and merge them, repeating until everything forms one giant cluster.                 </a:t>
            </a:r>
            <a:endParaRPr dirty="0"/>
          </a:p>
        </p:txBody>
      </p:sp>
      <p:sp>
        <p:nvSpPr>
          <p:cNvPr id="168" name="Google Shape;168;p18"/>
          <p:cNvSpPr txBox="1"/>
          <p:nvPr/>
        </p:nvSpPr>
        <p:spPr>
          <a:xfrm>
            <a:off x="571500" y="401955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Dendrogram: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 tree-like diagram (seen right) that records the sequence of merges. You can "cut" the tree at any level to get your desired number of groupings visually.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543BC6-0811-BEF5-1E80-4A0FE09C00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5975" y="1410990"/>
            <a:ext cx="6419850" cy="3616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33525"/>
            <a:ext cx="5286375" cy="429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533525"/>
            <a:ext cx="5286375" cy="4295775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9"/>
          <p:cNvSpPr txBox="1"/>
          <p:nvPr/>
        </p:nvSpPr>
        <p:spPr>
          <a:xfrm>
            <a:off x="962025" y="1924050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Traditional Machine Learning</a:t>
            </a:r>
            <a:endParaRPr/>
          </a:p>
        </p:txBody>
      </p:sp>
      <p:sp>
        <p:nvSpPr>
          <p:cNvPr id="177" name="Google Shape;177;p19"/>
          <p:cNvSpPr txBox="1"/>
          <p:nvPr/>
        </p:nvSpPr>
        <p:spPr>
          <a:xfrm>
            <a:off x="962025" y="2428875"/>
            <a:ext cx="45053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Models like SVM, KNN, and Logistic Regression.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6724650" y="1924050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A855F7"/>
                </a:solidFill>
                <a:latin typeface="Urbanist"/>
                <a:ea typeface="Urbanist"/>
                <a:cs typeface="Urbanist"/>
                <a:sym typeface="Urbanist"/>
              </a:rPr>
              <a:t>Modern Deep Learning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6724650" y="2428875"/>
            <a:ext cx="45053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Multi-layered Artificial Neural Networks.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1095375" y="28765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1200150" y="2876550"/>
            <a:ext cx="4267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Requires intensive </a:t>
            </a:r>
            <a:r>
              <a:rPr lang="en-US" sz="1500" b="0" i="0" u="none" strike="noStrike" cap="none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Feature Engineering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1095375" y="332422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1200150" y="3324225"/>
            <a:ext cx="42672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Humans must manually extract and select the most important variables.</a:t>
            </a:r>
            <a:endParaRPr/>
          </a:p>
        </p:txBody>
      </p:sp>
      <p:sp>
        <p:nvSpPr>
          <p:cNvPr id="184" name="Google Shape;184;p19"/>
          <p:cNvSpPr txBox="1"/>
          <p:nvPr/>
        </p:nvSpPr>
        <p:spPr>
          <a:xfrm>
            <a:off x="1095375" y="40767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85" name="Google Shape;185;p19"/>
          <p:cNvSpPr txBox="1"/>
          <p:nvPr/>
        </p:nvSpPr>
        <p:spPr>
          <a:xfrm>
            <a:off x="1200150" y="4076700"/>
            <a:ext cx="4267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Performance plateaus once the human-engineered features reach their limit of usefulness.</a:t>
            </a:r>
            <a:endParaRPr/>
          </a:p>
        </p:txBody>
      </p:sp>
      <p:sp>
        <p:nvSpPr>
          <p:cNvPr id="186" name="Google Shape;186;p19"/>
          <p:cNvSpPr txBox="1"/>
          <p:nvPr/>
        </p:nvSpPr>
        <p:spPr>
          <a:xfrm>
            <a:off x="6858000" y="28765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6962775" y="2876550"/>
            <a:ext cx="4267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Utilizes powerful </a:t>
            </a:r>
            <a:r>
              <a:rPr lang="en-US" sz="1500" b="0" i="0" u="none" strike="noStrike" cap="non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Representation Learning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188" name="Google Shape;188;p19"/>
          <p:cNvSpPr txBox="1"/>
          <p:nvPr/>
        </p:nvSpPr>
        <p:spPr>
          <a:xfrm>
            <a:off x="6858000" y="332422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89" name="Google Shape;189;p19"/>
          <p:cNvSpPr txBox="1"/>
          <p:nvPr/>
        </p:nvSpPr>
        <p:spPr>
          <a:xfrm>
            <a:off x="6962775" y="3324225"/>
            <a:ext cx="4267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algorithm learns how to extract features entirely by itself from raw data (pixels, text, audio).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6858000" y="43815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91" name="Google Shape;191;p19"/>
          <p:cNvSpPr txBox="1"/>
          <p:nvPr/>
        </p:nvSpPr>
        <p:spPr>
          <a:xfrm>
            <a:off x="6962775" y="4381500"/>
            <a:ext cx="4267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Scales exceptionally well with massive amounts of unstructured data and compute power.</a:t>
            </a:r>
            <a:endParaRPr/>
          </a:p>
        </p:txBody>
      </p:sp>
      <p:sp>
        <p:nvSpPr>
          <p:cNvPr id="192" name="Google Shape;192;p19"/>
          <p:cNvSpPr txBox="1"/>
          <p:nvPr/>
        </p:nvSpPr>
        <p:spPr>
          <a:xfrm>
            <a:off x="571500" y="571500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ML vs. Deep Learning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20"/>
          <p:cNvSpPr txBox="1"/>
          <p:nvPr/>
        </p:nvSpPr>
        <p:spPr>
          <a:xfrm>
            <a:off x="571500" y="1533525"/>
            <a:ext cx="555069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The Core Building Blocks</a:t>
            </a:r>
            <a:endParaRPr/>
          </a:p>
        </p:txBody>
      </p:sp>
      <p:sp>
        <p:nvSpPr>
          <p:cNvPr id="200" name="Google Shape;200;p20"/>
          <p:cNvSpPr txBox="1"/>
          <p:nvPr/>
        </p:nvSpPr>
        <p:spPr>
          <a:xfrm>
            <a:off x="571500" y="2000250"/>
            <a:ext cx="5286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Neural Networks are roughly modeled after the biological connections in the human brain.</a:t>
            </a:r>
            <a:endParaRPr/>
          </a:p>
        </p:txBody>
      </p:sp>
      <p:sp>
        <p:nvSpPr>
          <p:cNvPr id="201" name="Google Shape;201;p20"/>
          <p:cNvSpPr txBox="1"/>
          <p:nvPr/>
        </p:nvSpPr>
        <p:spPr>
          <a:xfrm>
            <a:off x="571500" y="2752725"/>
            <a:ext cx="5286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Neuron (Node):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Takes inputs, applies a mathematical weight to them, and passes them through an activation function to generate an output signal.</a:t>
            </a:r>
            <a:endParaRPr/>
          </a:p>
        </p:txBody>
      </p:sp>
      <p:sp>
        <p:nvSpPr>
          <p:cNvPr id="202" name="Google Shape;202;p20"/>
          <p:cNvSpPr txBox="1"/>
          <p:nvPr/>
        </p:nvSpPr>
        <p:spPr>
          <a:xfrm>
            <a:off x="571500" y="3810000"/>
            <a:ext cx="5286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Architecture:</a:t>
            </a:r>
            <a:endParaRPr/>
          </a:p>
        </p:txBody>
      </p:sp>
      <p:sp>
        <p:nvSpPr>
          <p:cNvPr id="203" name="Google Shape;203;p20"/>
          <p:cNvSpPr txBox="1"/>
          <p:nvPr/>
        </p:nvSpPr>
        <p:spPr>
          <a:xfrm>
            <a:off x="704850" y="42576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04" name="Google Shape;204;p20"/>
          <p:cNvSpPr txBox="1"/>
          <p:nvPr/>
        </p:nvSpPr>
        <p:spPr>
          <a:xfrm>
            <a:off x="809625" y="4257675"/>
            <a:ext cx="5048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Input Layer: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Receives the raw, unadulterated data.</a:t>
            </a:r>
            <a:endParaRPr/>
          </a:p>
        </p:txBody>
      </p:sp>
      <p:sp>
        <p:nvSpPr>
          <p:cNvPr id="205" name="Google Shape;205;p20"/>
          <p:cNvSpPr txBox="1"/>
          <p:nvPr/>
        </p:nvSpPr>
        <p:spPr>
          <a:xfrm>
            <a:off x="704850" y="47053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06" name="Google Shape;206;p20"/>
          <p:cNvSpPr txBox="1"/>
          <p:nvPr/>
        </p:nvSpPr>
        <p:spPr>
          <a:xfrm>
            <a:off x="809625" y="4705350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Hidden Layers: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Where the magic (feature extraction and complex pattern recognition) happens.</a:t>
            </a:r>
            <a:endParaRPr/>
          </a:p>
        </p:txBody>
      </p:sp>
      <p:sp>
        <p:nvSpPr>
          <p:cNvPr id="207" name="Google Shape;207;p20"/>
          <p:cNvSpPr txBox="1"/>
          <p:nvPr/>
        </p:nvSpPr>
        <p:spPr>
          <a:xfrm>
            <a:off x="704850" y="545782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08" name="Google Shape;208;p20"/>
          <p:cNvSpPr txBox="1"/>
          <p:nvPr/>
        </p:nvSpPr>
        <p:spPr>
          <a:xfrm>
            <a:off x="809625" y="5457825"/>
            <a:ext cx="5048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Output Layer: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Produces the final prediction.</a:t>
            </a:r>
            <a:endParaRPr/>
          </a:p>
        </p:txBody>
      </p:sp>
      <p:sp>
        <p:nvSpPr>
          <p:cNvPr id="210" name="Google Shape;210;p20"/>
          <p:cNvSpPr txBox="1"/>
          <p:nvPr/>
        </p:nvSpPr>
        <p:spPr>
          <a:xfrm>
            <a:off x="571500" y="571500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Intro to Neural Networks</a:t>
            </a:r>
            <a:endParaRPr/>
          </a:p>
        </p:txBody>
      </p:sp>
      <p:pic>
        <p:nvPicPr>
          <p:cNvPr id="1026" name="Picture 2" descr="Fully Connected Neural Network – Zaniar Shokati">
            <a:extLst>
              <a:ext uri="{FF2B5EF4-FFF2-40B4-BE49-F238E27FC236}">
                <a16:creationId xmlns:a16="http://schemas.microsoft.com/office/drawing/2014/main" id="{F9AB5334-3F19-7F83-4822-C32DDD2EE9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5400" y="2243137"/>
            <a:ext cx="473510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Google Shape;215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524125"/>
            <a:ext cx="3492549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524125"/>
            <a:ext cx="3492549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524125"/>
            <a:ext cx="3492549" cy="2381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1"/>
          <p:cNvSpPr txBox="1"/>
          <p:nvPr/>
        </p:nvSpPr>
        <p:spPr>
          <a:xfrm>
            <a:off x="1809750" y="1533525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"Deep" simply refers to the vast number of Hidden Layers in the neural network. More successive layers equate to the ability to learn increasingly complex, abstract features.</a:t>
            </a:r>
            <a:endParaRPr/>
          </a:p>
        </p:txBody>
      </p:sp>
      <p:sp>
        <p:nvSpPr>
          <p:cNvPr id="220" name="Google Shape;220;p21"/>
          <p:cNvSpPr txBox="1"/>
          <p:nvPr/>
        </p:nvSpPr>
        <p:spPr>
          <a:xfrm>
            <a:off x="484186" y="5095875"/>
            <a:ext cx="366717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Layer 1: Edges</a:t>
            </a:r>
            <a:endParaRPr/>
          </a:p>
        </p:txBody>
      </p:sp>
      <p:sp>
        <p:nvSpPr>
          <p:cNvPr id="221" name="Google Shape;221;p21"/>
          <p:cNvSpPr txBox="1"/>
          <p:nvPr/>
        </p:nvSpPr>
        <p:spPr>
          <a:xfrm>
            <a:off x="571500" y="5562600"/>
            <a:ext cx="3492549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Detects raw contrast changes, basic lines, and fundamental edges.</a:t>
            </a:r>
            <a:endParaRPr/>
          </a:p>
        </p:txBody>
      </p:sp>
      <p:sp>
        <p:nvSpPr>
          <p:cNvPr id="222" name="Google Shape;222;p21"/>
          <p:cNvSpPr txBox="1"/>
          <p:nvPr/>
        </p:nvSpPr>
        <p:spPr>
          <a:xfrm>
            <a:off x="4262485" y="5095875"/>
            <a:ext cx="366717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Layer 2: Shapes</a:t>
            </a:r>
            <a:endParaRPr/>
          </a:p>
        </p:txBody>
      </p:sp>
      <p:sp>
        <p:nvSpPr>
          <p:cNvPr id="223" name="Google Shape;223;p21"/>
          <p:cNvSpPr txBox="1"/>
          <p:nvPr/>
        </p:nvSpPr>
        <p:spPr>
          <a:xfrm>
            <a:off x="4349799" y="5562600"/>
            <a:ext cx="3492549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Combines edges to recognize geometric patterns and basic shapes.</a:t>
            </a:r>
            <a:endParaRPr/>
          </a:p>
        </p:txBody>
      </p:sp>
      <p:sp>
        <p:nvSpPr>
          <p:cNvPr id="224" name="Google Shape;224;p21"/>
          <p:cNvSpPr txBox="1"/>
          <p:nvPr/>
        </p:nvSpPr>
        <p:spPr>
          <a:xfrm>
            <a:off x="8040785" y="5095875"/>
            <a:ext cx="366717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Layer 3: Objects</a:t>
            </a:r>
            <a:endParaRPr/>
          </a:p>
        </p:txBody>
      </p:sp>
      <p:sp>
        <p:nvSpPr>
          <p:cNvPr id="225" name="Google Shape;225;p21"/>
          <p:cNvSpPr txBox="1"/>
          <p:nvPr/>
        </p:nvSpPr>
        <p:spPr>
          <a:xfrm>
            <a:off x="8128099" y="5562600"/>
            <a:ext cx="3492549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Synthesizes shapes to identify highly complex objects or faces.</a:t>
            </a:r>
            <a:endParaRPr/>
          </a:p>
        </p:txBody>
      </p:sp>
      <p:pic>
        <p:nvPicPr>
          <p:cNvPr id="226" name="Google Shape;226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2533650"/>
            <a:ext cx="3473499" cy="2362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359324" y="2533650"/>
            <a:ext cx="3473499" cy="2362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1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137624" y="2533650"/>
            <a:ext cx="3473499" cy="236220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1"/>
          <p:cNvSpPr txBox="1"/>
          <p:nvPr/>
        </p:nvSpPr>
        <p:spPr>
          <a:xfrm>
            <a:off x="571500" y="571500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Why is it called "Deep"?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Shape 250">
          <a:extLst>
            <a:ext uri="{FF2B5EF4-FFF2-40B4-BE49-F238E27FC236}">
              <a16:creationId xmlns:a16="http://schemas.microsoft.com/office/drawing/2014/main" id="{A7A4776D-FED7-7CB2-A988-D6433EE00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8E568995-4CB8-BA16-75DD-8C95B7254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6711" y="936140"/>
            <a:ext cx="7478578" cy="498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55314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533525"/>
            <a:ext cx="5286375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2"/>
          <p:cNvSpPr txBox="1"/>
          <p:nvPr/>
        </p:nvSpPr>
        <p:spPr>
          <a:xfrm>
            <a:off x="571500" y="1533525"/>
            <a:ext cx="555069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The Visionaries of AI (CNNs)</a:t>
            </a:r>
            <a:endParaRPr/>
          </a:p>
        </p:txBody>
      </p:sp>
      <p:sp>
        <p:nvSpPr>
          <p:cNvPr id="237" name="Google Shape;237;p22"/>
          <p:cNvSpPr txBox="1"/>
          <p:nvPr/>
        </p:nvSpPr>
        <p:spPr>
          <a:xfrm>
            <a:off x="571500" y="2000250"/>
            <a:ext cx="5286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CNNs are specialized neural networks explicitly designed to process grid-like data, most notably </a:t>
            </a:r>
            <a:r>
              <a:rPr lang="en-US" sz="1500" b="0" i="0" u="none" strike="noStrike" cap="none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images and video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238" name="Google Shape;238;p22"/>
          <p:cNvSpPr txBox="1"/>
          <p:nvPr/>
        </p:nvSpPr>
        <p:spPr>
          <a:xfrm>
            <a:off x="571500" y="2752725"/>
            <a:ext cx="5286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How they work:</a:t>
            </a:r>
            <a:endParaRPr/>
          </a:p>
        </p:txBody>
      </p:sp>
      <p:sp>
        <p:nvSpPr>
          <p:cNvPr id="239" name="Google Shape;239;p22"/>
          <p:cNvSpPr txBox="1"/>
          <p:nvPr/>
        </p:nvSpPr>
        <p:spPr>
          <a:xfrm>
            <a:off x="704850" y="32004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40" name="Google Shape;240;p22"/>
          <p:cNvSpPr txBox="1"/>
          <p:nvPr/>
        </p:nvSpPr>
        <p:spPr>
          <a:xfrm>
            <a:off x="809625" y="3200400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Convolutions: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They use mathematically determined "filters" that slide across an image pixel-by-pixel.</a:t>
            </a:r>
            <a:endParaRPr/>
          </a:p>
        </p:txBody>
      </p:sp>
      <p:sp>
        <p:nvSpPr>
          <p:cNvPr id="241" name="Google Shape;241;p22"/>
          <p:cNvSpPr txBox="1"/>
          <p:nvPr/>
        </p:nvSpPr>
        <p:spPr>
          <a:xfrm>
            <a:off x="704850" y="39528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42" name="Google Shape;242;p22"/>
          <p:cNvSpPr txBox="1"/>
          <p:nvPr/>
        </p:nvSpPr>
        <p:spPr>
          <a:xfrm>
            <a:off x="809625" y="3952875"/>
            <a:ext cx="50484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Spatial Hierarchy: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They automatically learn to identify spatial features</a:t>
            </a:r>
            <a:r>
              <a:rPr lang="en-US" sz="150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edges first, then textures, then specific shapes (like an ear or a wheel).</a:t>
            </a:r>
            <a:endParaRPr/>
          </a:p>
        </p:txBody>
      </p:sp>
      <p:sp>
        <p:nvSpPr>
          <p:cNvPr id="243" name="Google Shape;243;p22"/>
          <p:cNvSpPr txBox="1"/>
          <p:nvPr/>
        </p:nvSpPr>
        <p:spPr>
          <a:xfrm>
            <a:off x="704850" y="50101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44" name="Google Shape;244;p22"/>
          <p:cNvSpPr txBox="1"/>
          <p:nvPr/>
        </p:nvSpPr>
        <p:spPr>
          <a:xfrm>
            <a:off x="809625" y="5010150"/>
            <a:ext cx="5048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Applications: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Facial recognition, self-driving car vision, and medical image analysis.</a:t>
            </a:r>
            <a:endParaRPr/>
          </a:p>
        </p:txBody>
      </p:sp>
      <p:sp>
        <p:nvSpPr>
          <p:cNvPr id="246" name="Google Shape;246;p22"/>
          <p:cNvSpPr txBox="1"/>
          <p:nvPr/>
        </p:nvSpPr>
        <p:spPr>
          <a:xfrm>
            <a:off x="571500" y="571500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Convolutional Neural Networks</a:t>
            </a:r>
            <a:endParaRPr/>
          </a:p>
        </p:txBody>
      </p:sp>
      <p:pic>
        <p:nvPicPr>
          <p:cNvPr id="1026" name="Picture 2" descr="3.2. Basic Architecture of CNN — Oddly Satisfying Deep Learning">
            <a:extLst>
              <a:ext uri="{FF2B5EF4-FFF2-40B4-BE49-F238E27FC236}">
                <a16:creationId xmlns:a16="http://schemas.microsoft.com/office/drawing/2014/main" id="{14790971-F9F4-6A0E-26EF-E38730D353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3975" y="1533525"/>
            <a:ext cx="5286375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33525"/>
            <a:ext cx="5286375" cy="4819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533525"/>
            <a:ext cx="5286375" cy="481965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3"/>
          <p:cNvSpPr txBox="1"/>
          <p:nvPr/>
        </p:nvSpPr>
        <p:spPr>
          <a:xfrm>
            <a:off x="962025" y="1924050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RNNs (Recurrent)</a:t>
            </a:r>
            <a:endParaRPr/>
          </a:p>
        </p:txBody>
      </p:sp>
      <p:sp>
        <p:nvSpPr>
          <p:cNvPr id="255" name="Google Shape;255;p23"/>
          <p:cNvSpPr txBox="1"/>
          <p:nvPr/>
        </p:nvSpPr>
        <p:spPr>
          <a:xfrm>
            <a:off x="962025" y="2428875"/>
            <a:ext cx="45053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Built for </a:t>
            </a:r>
            <a:r>
              <a:rPr lang="en-US" sz="1500" b="0" i="0" u="none" strike="noStrike" cap="none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sequential data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like text strings, speech, or stock prices.</a:t>
            </a:r>
            <a:endParaRPr/>
          </a:p>
        </p:txBody>
      </p:sp>
      <p:sp>
        <p:nvSpPr>
          <p:cNvPr id="256" name="Google Shape;256;p23"/>
          <p:cNvSpPr txBox="1"/>
          <p:nvPr/>
        </p:nvSpPr>
        <p:spPr>
          <a:xfrm>
            <a:off x="6724650" y="1924050"/>
            <a:ext cx="4730591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A855F7"/>
                </a:solidFill>
                <a:latin typeface="Urbanist"/>
                <a:ea typeface="Urbanist"/>
                <a:cs typeface="Urbanist"/>
                <a:sym typeface="Urbanist"/>
              </a:rPr>
              <a:t>LSTMs (Long Short-Term Memory)</a:t>
            </a:r>
            <a:endParaRPr/>
          </a:p>
        </p:txBody>
      </p:sp>
      <p:sp>
        <p:nvSpPr>
          <p:cNvPr id="257" name="Google Shape;257;p23"/>
          <p:cNvSpPr txBox="1"/>
          <p:nvPr/>
        </p:nvSpPr>
        <p:spPr>
          <a:xfrm>
            <a:off x="6724650" y="2790825"/>
            <a:ext cx="45053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</a:t>
            </a:r>
            <a:r>
              <a:rPr lang="en-US" sz="1500" b="0" i="0" u="none" strike="noStrike" cap="non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upgraded architecture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designed to solve the RNN memory flaw.</a:t>
            </a:r>
            <a:endParaRPr/>
          </a:p>
        </p:txBody>
      </p:sp>
      <p:sp>
        <p:nvSpPr>
          <p:cNvPr id="258" name="Google Shape;258;p23"/>
          <p:cNvSpPr txBox="1"/>
          <p:nvPr/>
        </p:nvSpPr>
        <p:spPr>
          <a:xfrm>
            <a:off x="1095375" y="31813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59" name="Google Shape;259;p23"/>
          <p:cNvSpPr txBox="1"/>
          <p:nvPr/>
        </p:nvSpPr>
        <p:spPr>
          <a:xfrm>
            <a:off x="1200150" y="3181350"/>
            <a:ext cx="4267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Memory Loop: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They process inputs step-by-step, passing previous information forward to influence the current step.</a:t>
            </a:r>
            <a:endParaRPr/>
          </a:p>
        </p:txBody>
      </p:sp>
      <p:sp>
        <p:nvSpPr>
          <p:cNvPr id="260" name="Google Shape;260;p23"/>
          <p:cNvSpPr txBox="1"/>
          <p:nvPr/>
        </p:nvSpPr>
        <p:spPr>
          <a:xfrm>
            <a:off x="1095375" y="423862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61" name="Google Shape;261;p23"/>
          <p:cNvSpPr txBox="1"/>
          <p:nvPr/>
        </p:nvSpPr>
        <p:spPr>
          <a:xfrm>
            <a:off x="1200150" y="4238625"/>
            <a:ext cx="42672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Flaw: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They suffer from "short-term memory." Over long sequences, they forget the earliest inputs (the vanishing</a:t>
            </a:r>
            <a:r>
              <a:rPr lang="en-US" sz="15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/exploding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gradient problem).</a:t>
            </a:r>
            <a:endParaRPr dirty="0"/>
          </a:p>
        </p:txBody>
      </p:sp>
      <p:sp>
        <p:nvSpPr>
          <p:cNvPr id="262" name="Google Shape;262;p23"/>
          <p:cNvSpPr txBox="1"/>
          <p:nvPr/>
        </p:nvSpPr>
        <p:spPr>
          <a:xfrm>
            <a:off x="6858000" y="35433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63" name="Google Shape;263;p23"/>
          <p:cNvSpPr txBox="1"/>
          <p:nvPr/>
        </p:nvSpPr>
        <p:spPr>
          <a:xfrm>
            <a:off x="6962775" y="3543300"/>
            <a:ext cx="4267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Smart Gates: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LSTMs introduce complex mechanisms (Forget, Input, Output gates) inside the node.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6858000" y="46005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65" name="Google Shape;265;p23"/>
          <p:cNvSpPr txBox="1"/>
          <p:nvPr/>
        </p:nvSpPr>
        <p:spPr>
          <a:xfrm>
            <a:off x="6962775" y="4600575"/>
            <a:ext cx="42672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Selective Memory: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They can explicitly choose to remember critical information over thousands of steps, while forgetting irrelevant noise.</a:t>
            </a:r>
            <a:endParaRPr/>
          </a:p>
        </p:txBody>
      </p:sp>
      <p:sp>
        <p:nvSpPr>
          <p:cNvPr id="266" name="Google Shape;266;p23"/>
          <p:cNvSpPr txBox="1"/>
          <p:nvPr/>
        </p:nvSpPr>
        <p:spPr>
          <a:xfrm>
            <a:off x="571500" y="571500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Mastering Time &amp; Sequences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Shape 250">
          <a:extLst>
            <a:ext uri="{FF2B5EF4-FFF2-40B4-BE49-F238E27FC236}">
              <a16:creationId xmlns:a16="http://schemas.microsoft.com/office/drawing/2014/main" id="{0D44C7B2-BDB0-FC89-88A7-2B58A1364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3">
            <a:extLst>
              <a:ext uri="{FF2B5EF4-FFF2-40B4-BE49-F238E27FC236}">
                <a16:creationId xmlns:a16="http://schemas.microsoft.com/office/drawing/2014/main" id="{E684C66F-09A1-D316-E522-AAD425AC1BE2}"/>
              </a:ext>
            </a:extLst>
          </p:cNvPr>
          <p:cNvSpPr txBox="1"/>
          <p:nvPr/>
        </p:nvSpPr>
        <p:spPr>
          <a:xfrm>
            <a:off x="962025" y="1924050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RNNs (Recurrent)</a:t>
            </a:r>
            <a:endParaRPr/>
          </a:p>
        </p:txBody>
      </p:sp>
      <p:sp>
        <p:nvSpPr>
          <p:cNvPr id="256" name="Google Shape;256;p23">
            <a:extLst>
              <a:ext uri="{FF2B5EF4-FFF2-40B4-BE49-F238E27FC236}">
                <a16:creationId xmlns:a16="http://schemas.microsoft.com/office/drawing/2014/main" id="{C5DF6867-41E8-14F5-85CC-14775B5AC68F}"/>
              </a:ext>
            </a:extLst>
          </p:cNvPr>
          <p:cNvSpPr txBox="1"/>
          <p:nvPr/>
        </p:nvSpPr>
        <p:spPr>
          <a:xfrm>
            <a:off x="6724650" y="1924050"/>
            <a:ext cx="4730591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A855F7"/>
                </a:solidFill>
                <a:latin typeface="Urbanist"/>
                <a:ea typeface="Urbanist"/>
                <a:cs typeface="Urbanist"/>
                <a:sym typeface="Urbanist"/>
              </a:rPr>
              <a:t>LSTMs (Long Short-Term Memory)</a:t>
            </a:r>
            <a:endParaRPr/>
          </a:p>
        </p:txBody>
      </p:sp>
      <p:sp>
        <p:nvSpPr>
          <p:cNvPr id="266" name="Google Shape;266;p23">
            <a:extLst>
              <a:ext uri="{FF2B5EF4-FFF2-40B4-BE49-F238E27FC236}">
                <a16:creationId xmlns:a16="http://schemas.microsoft.com/office/drawing/2014/main" id="{68ABA0AD-5EAD-0127-4A79-F429AE7BE2EC}"/>
              </a:ext>
            </a:extLst>
          </p:cNvPr>
          <p:cNvSpPr txBox="1"/>
          <p:nvPr/>
        </p:nvSpPr>
        <p:spPr>
          <a:xfrm>
            <a:off x="571500" y="571500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Mastering Time &amp; Sequences</a:t>
            </a:r>
            <a:endParaRPr/>
          </a:p>
        </p:txBody>
      </p:sp>
      <p:pic>
        <p:nvPicPr>
          <p:cNvPr id="2" name="Picture 2" descr="โมเดลประสาทเทียม Recurrent Neural Network (RNN) – ดร.กิตติมศักดิ์ ในจิต">
            <a:extLst>
              <a:ext uri="{FF2B5EF4-FFF2-40B4-BE49-F238E27FC236}">
                <a16:creationId xmlns:a16="http://schemas.microsoft.com/office/drawing/2014/main" id="{0D3487EE-A6AD-5C45-E649-CA546BB3D6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" y="2729592"/>
            <a:ext cx="4140564" cy="3267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Understanding Long Short-Term Memory (LSTM) Networks | Machine Learning ...">
            <a:extLst>
              <a:ext uri="{FF2B5EF4-FFF2-40B4-BE49-F238E27FC236}">
                <a16:creationId xmlns:a16="http://schemas.microsoft.com/office/drawing/2014/main" id="{0BDA977D-9AA1-BCD5-60D5-754CC27C6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8625" y="2860221"/>
            <a:ext cx="5718777" cy="3267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48609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24"/>
          <p:cNvSpPr txBox="1"/>
          <p:nvPr/>
        </p:nvSpPr>
        <p:spPr>
          <a:xfrm>
            <a:off x="571500" y="571500"/>
            <a:ext cx="5200650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Transformer-Based Models</a:t>
            </a:r>
            <a:endParaRPr/>
          </a:p>
        </p:txBody>
      </p:sp>
      <p:sp>
        <p:nvSpPr>
          <p:cNvPr id="274" name="Google Shape;274;p24"/>
          <p:cNvSpPr txBox="1"/>
          <p:nvPr/>
        </p:nvSpPr>
        <p:spPr>
          <a:xfrm>
            <a:off x="571500" y="1924050"/>
            <a:ext cx="52006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The Generative AI Engine</a:t>
            </a:r>
            <a:endParaRPr/>
          </a:p>
        </p:txBody>
      </p:sp>
      <p:sp>
        <p:nvSpPr>
          <p:cNvPr id="275" name="Google Shape;275;p24"/>
          <p:cNvSpPr txBox="1"/>
          <p:nvPr/>
        </p:nvSpPr>
        <p:spPr>
          <a:xfrm>
            <a:off x="571500" y="2390775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 2017, Transformers revolutionized NLP with a simple concept: </a:t>
            </a:r>
            <a:r>
              <a:rPr lang="en-US" sz="1500" b="0" i="0" u="none" strike="noStrike" cap="none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"Attention is All You Need."</a:t>
            </a:r>
            <a:endParaRPr/>
          </a:p>
        </p:txBody>
      </p:sp>
      <p:sp>
        <p:nvSpPr>
          <p:cNvPr id="276" name="Google Shape;276;p24"/>
          <p:cNvSpPr txBox="1"/>
          <p:nvPr/>
        </p:nvSpPr>
        <p:spPr>
          <a:xfrm>
            <a:off x="571500" y="3190875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Parallel Processing: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Unlike RNNs that read text word-by-word, Transformers process entire sentences simultaneously, drastically speeding up training times.</a:t>
            </a:r>
            <a:endParaRPr/>
          </a:p>
        </p:txBody>
      </p:sp>
      <p:sp>
        <p:nvSpPr>
          <p:cNvPr id="277" name="Google Shape;277;p24"/>
          <p:cNvSpPr txBox="1"/>
          <p:nvPr/>
        </p:nvSpPr>
        <p:spPr>
          <a:xfrm>
            <a:off x="571500" y="4295775"/>
            <a:ext cx="49530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Self-Attention Mechanism: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The model mathematically weights the relationship between every word in a sequence. It understands context deeply (e.g., knowing the word "bank" means a river vs. a financial institution based on the surrounding sentence).</a:t>
            </a:r>
            <a:endParaRPr/>
          </a:p>
        </p:txBody>
      </p:sp>
      <p:sp>
        <p:nvSpPr>
          <p:cNvPr id="278" name="Google Shape;278;p24"/>
          <p:cNvSpPr txBox="1"/>
          <p:nvPr/>
        </p:nvSpPr>
        <p:spPr>
          <a:xfrm>
            <a:off x="571500" y="6010275"/>
            <a:ext cx="495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Powers: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ChatGPT, BERT, Claude.</a:t>
            </a:r>
            <a:endParaRPr/>
          </a:p>
        </p:txBody>
      </p:sp>
      <p:pic>
        <p:nvPicPr>
          <p:cNvPr id="4104" name="Picture 8" descr="Transformer architecture with its encoder (left) and decoder (right) (Vaswani et al., 2017, p. 3)">
            <a:extLst>
              <a:ext uri="{FF2B5EF4-FFF2-40B4-BE49-F238E27FC236}">
                <a16:creationId xmlns:a16="http://schemas.microsoft.com/office/drawing/2014/main" id="{A709EA14-5E64-D8FB-5AC6-0AB25F749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5602" y="1123949"/>
            <a:ext cx="4643183" cy="46101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533525"/>
            <a:ext cx="5286375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571500" y="1533525"/>
            <a:ext cx="555069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Creation through Destruction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571500" y="2000250"/>
            <a:ext cx="5286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Diffusion models generate high-fidelity images by learning to reverse a process of deliberate data destruction.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704850" y="305752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09625" y="3057525"/>
            <a:ext cx="5048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Forward Process (Adding Noise):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We take a perfect image and gradually add Gaussian noise step-by-step until it becomes pure, unrecognizable static.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704850" y="41148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809625" y="4114800"/>
            <a:ext cx="5048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Reverse Process (Denoising):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We train a Neural Network (typically a U-Net architecture) to predict and remove that noise, step-by-step.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704850" y="51720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809625" y="5172075"/>
            <a:ext cx="5048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Result: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The model can take a canvas of pure random static and "denoise" it into a brand new, never-before-seen image.</a:t>
            </a:r>
            <a:endParaRPr/>
          </a:p>
        </p:txBody>
      </p:sp>
      <p:pic>
        <p:nvPicPr>
          <p:cNvPr id="106" name="Google Shape;106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1543050"/>
            <a:ext cx="5267325" cy="426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/>
        </p:nvSpPr>
        <p:spPr>
          <a:xfrm>
            <a:off x="571500" y="571500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Diffusion Models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33525"/>
            <a:ext cx="5286375" cy="3848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533525"/>
            <a:ext cx="5286375" cy="38481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 txBox="1"/>
          <p:nvPr/>
        </p:nvSpPr>
        <p:spPr>
          <a:xfrm>
            <a:off x="962025" y="1924050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6B6D4"/>
                </a:solidFill>
                <a:latin typeface="Urbanist"/>
                <a:ea typeface="Urbanist"/>
                <a:cs typeface="Urbanist"/>
                <a:sym typeface="Urbanist"/>
              </a:rPr>
              <a:t>1. The Transformer (Text)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962025" y="2428875"/>
            <a:ext cx="45053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How does the model know </a:t>
            </a:r>
            <a:r>
              <a:rPr lang="en-US" sz="1500" b="0" i="0" u="none" strike="noStrike" cap="none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what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to denoise the static into?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6724650" y="1924050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A855F7"/>
                </a:solidFill>
                <a:latin typeface="Urbanist"/>
                <a:ea typeface="Urbanist"/>
                <a:cs typeface="Urbanist"/>
                <a:sym typeface="Urbanist"/>
              </a:rPr>
              <a:t>2. The Denoising (Image)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6724650" y="2428875"/>
            <a:ext cx="45053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</a:t>
            </a:r>
            <a:r>
              <a:rPr lang="en-US" sz="1500" b="0" i="0" u="none" strike="noStrike" cap="none">
                <a:solidFill>
                  <a:srgbClr val="A855F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mixed architecture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 action.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1095375" y="31813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1200150" y="3181350"/>
            <a:ext cx="42672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It uses a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Transformer Architecture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(like CLIP) to read your prompt (e.g., "A cyberpunk cat").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1095375" y="393382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1200150" y="3933825"/>
            <a:ext cx="4267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Transformer encodes your text into mathematical "embeddings" that capture the deep semantic meaning of your words.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6858000" y="28765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6962775" y="2876550"/>
            <a:ext cx="42672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text embeddings from the Transformer act as a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guide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6858000" y="362902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6962775" y="3629025"/>
            <a:ext cx="42672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They steer the reverse-diffusion (denoising) process, forcing the neural network to sculpt the random static specifically into the shape of a cyberpunk cat.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571500" y="571500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Stable Diffusion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Shape 250">
          <a:extLst>
            <a:ext uri="{FF2B5EF4-FFF2-40B4-BE49-F238E27FC236}">
              <a16:creationId xmlns:a16="http://schemas.microsoft.com/office/drawing/2014/main" id="{F0922828-CF6D-B11E-CA50-FE4DC571A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ulti-modal ML with OpenAI's CLIP | Pinecone">
            <a:extLst>
              <a:ext uri="{FF2B5EF4-FFF2-40B4-BE49-F238E27FC236}">
                <a16:creationId xmlns:a16="http://schemas.microsoft.com/office/drawing/2014/main" id="{DBF62F66-228E-EC75-F7EC-9600DCA0A6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0951" y="985652"/>
            <a:ext cx="7143049" cy="4110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20890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33525"/>
            <a:ext cx="2547937" cy="3175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05187" y="1533525"/>
            <a:ext cx="2547937" cy="3175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38875" y="1533525"/>
            <a:ext cx="2547937" cy="3175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072562" y="1533525"/>
            <a:ext cx="2547937" cy="3175396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6"/>
          <p:cNvSpPr txBox="1"/>
          <p:nvPr/>
        </p:nvSpPr>
        <p:spPr>
          <a:xfrm>
            <a:off x="1495425" y="2733675"/>
            <a:ext cx="7000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CNNs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866775" y="3200400"/>
            <a:ext cx="1957387" cy="97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Spatial Data &amp; Vision. Best for processing pixels and finding patterns in image grids.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3744039" y="2733675"/>
            <a:ext cx="187023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RNNs &amp; LSTMs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3700462" y="3200400"/>
            <a:ext cx="1957387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Time &amp; Sequences. Best for tracking data over time and maintaining state.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6652736" y="2733675"/>
            <a:ext cx="1720215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Transformers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6534150" y="3200400"/>
            <a:ext cx="1957387" cy="97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Context &amp; Generation. The undisputed king of Natural Language Processing (LLMs).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9786461" y="2733675"/>
            <a:ext cx="112014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Diffusion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9367837" y="3200400"/>
            <a:ext cx="1957387" cy="97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Image Generation. Combines Denoising algorithms with Transformers to create art.</a:t>
            </a:r>
            <a:endParaRPr/>
          </a:p>
        </p:txBody>
      </p:sp>
      <p:pic>
        <p:nvPicPr>
          <p:cNvPr id="145" name="Google Shape;145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64481" y="1962150"/>
            <a:ext cx="561975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431506" y="1962150"/>
            <a:ext cx="495300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203281" y="1962150"/>
            <a:ext cx="619125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065543" y="1962150"/>
            <a:ext cx="561975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6"/>
          <p:cNvSpPr txBox="1"/>
          <p:nvPr/>
        </p:nvSpPr>
        <p:spPr>
          <a:xfrm>
            <a:off x="571500" y="571500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The Neural Network Ecosystem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</TotalTime>
  <Words>1895</Words>
  <Application>Microsoft Office PowerPoint</Application>
  <PresentationFormat>Widescreen</PresentationFormat>
  <Paragraphs>181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Calibri</vt:lpstr>
      <vt:lpstr>Arial</vt:lpstr>
      <vt:lpstr>Urbanist SemiBold</vt:lpstr>
      <vt:lpstr>Urbanist</vt:lpstr>
      <vt:lpstr>Inter SemiBold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Mouad Zemzoumi &lt; 119509 &gt;</cp:lastModifiedBy>
  <cp:revision>13</cp:revision>
  <dcterms:modified xsi:type="dcterms:W3CDTF">2026-04-09T21:29:35Z</dcterms:modified>
</cp:coreProperties>
</file>