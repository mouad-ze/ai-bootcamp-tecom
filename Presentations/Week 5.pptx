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71" r:id="rId14"/>
    <p:sldId id="267" r:id="rId15"/>
    <p:sldId id="268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  <p:embeddedFont>
      <p:font typeface="Urbanist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70" autoAdjust="0"/>
  </p:normalViewPr>
  <p:slideViewPr>
    <p:cSldViewPr snapToGrid="0">
      <p:cViewPr varScale="1">
        <p:scale>
          <a:sx n="54" d="100"/>
          <a:sy n="54" d="100"/>
        </p:scale>
        <p:origin x="112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use a </a:t>
            </a:r>
            <a:r>
              <a:rPr lang="en-US" dirty="0" err="1"/>
              <a:t>dendogram</a:t>
            </a:r>
            <a:r>
              <a:rPr lang="en-US" dirty="0"/>
              <a:t> to represent the tree. ( the longer a branch is means there is a bigger distance between two clusters).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have different types of linkage meaning the "distance" between two groups of points.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k choice in k means represents the cut in the tree.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 is also divisive approach less common, that starts with 1 cluster and starts splitting dissimilar groups.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5E4D519E-C801-C1E2-6995-46133CB81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>
            <a:extLst>
              <a:ext uri="{FF2B5EF4-FFF2-40B4-BE49-F238E27FC236}">
                <a16:creationId xmlns:a16="http://schemas.microsoft.com/office/drawing/2014/main" id="{90244A36-3212-9AB1-A3D2-EF619E248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298450"/>
            <a:r>
              <a:rPr lang="en-US" dirty="0"/>
              <a:t>Each neuron has weights and biases to help in feature extraction.</a:t>
            </a:r>
          </a:p>
          <a:p>
            <a:pPr marL="457200" indent="-298450"/>
            <a:r>
              <a:rPr lang="en-US" dirty="0"/>
              <a:t>But if all neurons are taken it would just be a linear mapping.</a:t>
            </a:r>
          </a:p>
          <a:p>
            <a:pPr marL="457200" indent="-298450"/>
            <a:r>
              <a:rPr lang="en-US" dirty="0"/>
              <a:t>The goal of an activation function is to select only neurons whose values are above a certain threshold to enable the network to learn complex patterns.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249" name="Google Shape;249;p11:notes">
            <a:extLst>
              <a:ext uri="{FF2B5EF4-FFF2-40B4-BE49-F238E27FC236}">
                <a16:creationId xmlns:a16="http://schemas.microsoft.com/office/drawing/2014/main" id="{9DB7DC88-8B87-3850-BDED-E6EC80EEF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2908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kernel/mask serves as a feature detector that slides through all of the Image pixel.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 activation function serves to activate only certain neurons allowing the network to learn complex patterns.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Pooling serves in reducing the output to make it more interpretable and computationally efficient.</a:t>
            </a:r>
            <a:endParaRPr dirty="0"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09DF973C-FEDF-9130-CA89-5536E94B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>
            <a:extLst>
              <a:ext uri="{FF2B5EF4-FFF2-40B4-BE49-F238E27FC236}">
                <a16:creationId xmlns:a16="http://schemas.microsoft.com/office/drawing/2014/main" id="{BA338FB9-7276-68D6-5DB4-66C40656B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 </a:t>
            </a:r>
            <a:r>
              <a:rPr lang="en-US" dirty="0" err="1"/>
              <a:t>rnn</a:t>
            </a:r>
            <a:r>
              <a:rPr lang="en-US" dirty="0"/>
              <a:t> is a neural network that has a hidden state that acts as a memory feeding the output as an input to the hidden layer each time.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But since the </a:t>
            </a:r>
            <a:r>
              <a:rPr lang="en-US" dirty="0" err="1"/>
              <a:t>rnn</a:t>
            </a:r>
            <a:r>
              <a:rPr lang="en-US" dirty="0"/>
              <a:t> applies the same weights after each iteration it can cause the gradient to become very small (vanish) or very big (explode).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Lstm</a:t>
            </a:r>
            <a:r>
              <a:rPr lang="en-US" dirty="0"/>
              <a:t> solves this problem by having an additive update instead of a multiplicative one.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An </a:t>
            </a:r>
            <a:r>
              <a:rPr lang="en-US" dirty="0" err="1"/>
              <a:t>Lstm</a:t>
            </a:r>
            <a:r>
              <a:rPr lang="en-US" dirty="0"/>
              <a:t> is composed of three main gates: </a:t>
            </a:r>
          </a:p>
          <a:p>
            <a:pPr marL="158750" indent="0">
              <a:buNone/>
            </a:pPr>
            <a:r>
              <a:rPr lang="en-US" b="1" dirty="0"/>
              <a:t>Forget Gate:</a:t>
            </a:r>
            <a:r>
              <a:rPr lang="en-US" dirty="0"/>
              <a:t> Decides what information from the past is no longer useful and should be thrown away.</a:t>
            </a:r>
          </a:p>
          <a:p>
            <a:pPr marL="158750" indent="0">
              <a:buNone/>
            </a:pPr>
            <a:r>
              <a:rPr lang="en-US" b="1" dirty="0"/>
              <a:t>Input Gate:</a:t>
            </a:r>
            <a:r>
              <a:rPr lang="en-US" dirty="0"/>
              <a:t> Decides which new information from the current step is worth adding to the long-term memory (Cell State).</a:t>
            </a:r>
          </a:p>
          <a:p>
            <a:pPr marL="158750" indent="0">
              <a:buNone/>
            </a:pPr>
            <a:r>
              <a:rPr lang="en-US" b="1" dirty="0"/>
              <a:t>Output Gate:</a:t>
            </a:r>
            <a:r>
              <a:rPr lang="en-US" dirty="0"/>
              <a:t> Decides which parts of the long-term memory should actually be used as the output for the current moment.</a:t>
            </a:r>
          </a:p>
          <a:p>
            <a:pPr marL="158750" indent="0"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sp>
        <p:nvSpPr>
          <p:cNvPr id="249" name="Google Shape;249;p11:notes">
            <a:extLst>
              <a:ext uri="{FF2B5EF4-FFF2-40B4-BE49-F238E27FC236}">
                <a16:creationId xmlns:a16="http://schemas.microsoft.com/office/drawing/2014/main" id="{D32EEE73-524F-4C85-6D11-27F20205D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3901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Transformer architecture relies on self attention mechanism means giving the weight and importance of each word within the context of a sentence for instance.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There are three main vectors that it calculates: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Query:</a:t>
            </a:r>
            <a:r>
              <a:rPr lang="en-US" dirty="0"/>
              <a:t> What am I looking for?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Key:</a:t>
            </a:r>
            <a:r>
              <a:rPr lang="en-US" dirty="0"/>
              <a:t> What do I contain?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Value:</a:t>
            </a:r>
            <a:r>
              <a:rPr lang="en-US" dirty="0"/>
              <a:t> What information do I provide if I’m a match?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It also has a positional encoding to situate where the word is within a sentence since it </a:t>
            </a:r>
            <a:r>
              <a:rPr lang="en-US" dirty="0" err="1"/>
              <a:t>doesn</a:t>
            </a:r>
            <a:r>
              <a:rPr lang="en-US" dirty="0"/>
              <a:t> t process sequentially the words.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Feed forward network is a typical neural net so the networks learns patterns from </a:t>
            </a:r>
            <a:r>
              <a:rPr lang="en-US"/>
              <a:t>the features.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55494" y="2062311"/>
            <a:ext cx="808101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Unsupervised Learning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06B6D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Modern Architectures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145808"/>
            <a:ext cx="7620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Week 5: Clustering, and the Evolution of Neural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5286375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33525"/>
            <a:ext cx="5286375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Supervised Learning (Past)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24288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happens when we 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have labels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Unsupervised Learning (Today)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24288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happens when we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lack answers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95375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00150" y="28765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train algorithms like Decision Trees, SVMs, and KNN.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95375" y="3629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00150" y="3629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goal is to map known inputs (X) to explicit outputs (Y).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95375" y="4381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200150" y="43815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Acts like a teacher holding an answer key to guide the model.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58000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62775" y="28765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only have raw data (X) with absolutely no labels (no Y).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0" y="3629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962775" y="3629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goal is for the algorithm to find hidden structures or groupings independently.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58000" y="4381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62775" y="43815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Making sense of millions of data points without an answer key.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Unsupervised Learning Shift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335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15335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Grouping by Similarity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000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Clustering is the task of grouping a set of objects so that items in the same group (a cluster) are more similar to each other than to those in other groups.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30575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Real-World Applications: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4850" y="3505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Customer Segmentation: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Targeting specific demographics in marketing.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4850" y="4257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4257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Compression: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Reducing file sizes via color quantization.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04850" y="5010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50101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Anomaly Detection: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Identifying fraud patterns in financial data.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 to Clustering</a:t>
            </a:r>
            <a:endParaRPr/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875" y="1466850"/>
            <a:ext cx="57150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5335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Dimensionality Reduction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2000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Principal Component Analysis (PCA) transforms a large set of variables into a smaller one that still contains most of the original variance.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0575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Why use PCA before clustering?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04850" y="3505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3505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Reduces Noise: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Strips out less important variables, helping clustering algorithms find the true signal.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04850" y="4257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5" y="42576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Curse of Dimensionality: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Distance metrics (used in K-Means) lose meaning in highly dimensional spaces. PCA simplifies the space.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04850" y="5314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53149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Projects 100D data into 2D or 3D spaces so we can visually verify our clusters.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Prep: Intro to PCA</a:t>
            </a:r>
            <a:endParaRPr/>
          </a:p>
        </p:txBody>
      </p:sp>
      <p:pic>
        <p:nvPicPr>
          <p:cNvPr id="143" name="Google Shape;14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175" y="2295525"/>
            <a:ext cx="5286374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4914900" y="1724025"/>
            <a:ext cx="70408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Finding the Center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914900" y="2190750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K-Means is one of the most popular clustering algorithms. The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'K' is a hyperparameter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must set before running the model.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914900" y="2943225"/>
            <a:ext cx="670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'Means' represents the center point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(centroid) of each discovered cluster.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914900" y="3695700"/>
            <a:ext cx="670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it thinks: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assigns data points to the nearest centroid, attempting to keep the clusters as tight, compact, and distinct as mathematically possible.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2195512" y="1533525"/>
            <a:ext cx="6191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K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423987" y="2676525"/>
            <a:ext cx="21621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Number of Clusters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19162" y="3524250"/>
            <a:ext cx="31718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Means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785937" y="4667250"/>
            <a:ext cx="1438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Centroid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K-Means Clustering Concept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Hierarchical Clustering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13430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Building the Family Tree of Data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18097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guessing "K" at the beginning, we build a continuous hierarchy of clusters step-by-step.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609850"/>
            <a:ext cx="4953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Agglomerative (Bottom-Up):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single data point starts as its own isolated cluster. We find the two closest clusters and merge them, repeating until everything forms one giant cluster.                 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401955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Dendrogram: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tree-like diagram (seen right) that records the sequence of merges. You can "cut" the tree at any level to get your desired number of groupings visually.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543BC6-0811-BEF5-1E80-4A0FE09C0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1410990"/>
            <a:ext cx="6419850" cy="3616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52863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33525"/>
            <a:ext cx="5286375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62025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Traditional Machine Learning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62025" y="24288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like SVM, KNN, and Logistic Regression.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724650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Modern Deep Learning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724650" y="2428875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Multi-layered Artificial Neural Networks.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095375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200150" y="287655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Requires intensive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Engineering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095375" y="3324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00150" y="33242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Humans must manually extract and select the most important variables.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95375" y="4076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200150" y="407670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 plateaus once the human-engineered features reach their limit of usefulness.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858000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962775" y="287655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Utilizes powerful 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Representation Learning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858000" y="3324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962775" y="3324225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algorithm learns how to extract features entirely by itself from raw data (pixels, text, audio).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858000" y="4381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962775" y="438150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Scales exceptionally well with massive amounts of unstructured data and compute power.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ML vs. Deep Learning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15335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Core Building Blocks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2000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Neural Networks are roughly modeled after the biological connections in the human brain.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7527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Neuron (Node):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Takes inputs, applies a mathematical weight to them, and passes them through an activation function to generate an output signal.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38100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Architecture: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04850" y="4257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09625" y="42576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 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Receives the raw, unadulterated data.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04850" y="4705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09625" y="47053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Hidden Layers: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Where the magic (feature extraction and complex pattern recognition) happens.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04850" y="54578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09625" y="54578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Output 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Produces the final prediction.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Intro to Neural Networks</a:t>
            </a:r>
            <a:endParaRPr/>
          </a:p>
        </p:txBody>
      </p:sp>
      <p:pic>
        <p:nvPicPr>
          <p:cNvPr id="1026" name="Picture 2" descr="Fully Connected Neural Network – Zaniar Shokati">
            <a:extLst>
              <a:ext uri="{FF2B5EF4-FFF2-40B4-BE49-F238E27FC236}">
                <a16:creationId xmlns:a16="http://schemas.microsoft.com/office/drawing/2014/main" id="{F9AB5334-3F19-7F83-4822-C32DDD2EE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400" y="2243137"/>
            <a:ext cx="47351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41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241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2412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1809750" y="153352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"Deep" simply refers to the vast number of Hidden Layers in the neural network. More successive layers equate to the ability to learn increasingly complex, abstract features.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84186" y="5095875"/>
            <a:ext cx="36671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 1: Edges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571500" y="5562600"/>
            <a:ext cx="3492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Detects raw contrast changes, basic lines, and fundamental edges.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262485" y="5095875"/>
            <a:ext cx="36671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 2: Shapes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349799" y="5562600"/>
            <a:ext cx="3492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Combines edges to recognize geometric patterns and basic shapes.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040785" y="5095875"/>
            <a:ext cx="36671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Layer 3: Objects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128099" y="5562600"/>
            <a:ext cx="349254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Synthesizes shapes to identify highly complex objects or faces.</a:t>
            </a:r>
            <a:endParaRPr/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533650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59324" y="2533650"/>
            <a:ext cx="347349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37624" y="2533650"/>
            <a:ext cx="3473499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is it called "Deep"?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A7A4776D-FED7-7CB2-A988-D6433EE0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8E568995-4CB8-BA16-75DD-8C95B7254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711" y="936140"/>
            <a:ext cx="7478578" cy="49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531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335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571500" y="15335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Visionaries of AI (CNNs)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2000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CNNs are specialized neural networks explicitly designed to process grid-like data, most notably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images and video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7527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they work: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04850" y="3200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09625" y="3200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Convolutions: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use mathematically determined "filters" that slide across an image pixel-by-pixel.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04850" y="3952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09625" y="3952875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Spatial Hierarchy: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automatically learn to identify spatial features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edges first, then textures, then specific shapes (like an ear or a wheel).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04850" y="5010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09625" y="50101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Facial recognition, self-driving car vision, and medical image analysis.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Convolutional Neural Networks</a:t>
            </a:r>
            <a:endParaRPr/>
          </a:p>
        </p:txBody>
      </p:sp>
      <p:pic>
        <p:nvPicPr>
          <p:cNvPr id="1026" name="Picture 2" descr="3.2. Basic Architecture of CNN — Oddly Satisfying Deep Learning">
            <a:extLst>
              <a:ext uri="{FF2B5EF4-FFF2-40B4-BE49-F238E27FC236}">
                <a16:creationId xmlns:a16="http://schemas.microsoft.com/office/drawing/2014/main" id="{14790971-F9F4-6A0E-26EF-E38730D35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975" y="1533525"/>
            <a:ext cx="52863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5286375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33525"/>
            <a:ext cx="5286375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962025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RNNs (Recurrent)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62025" y="242887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for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sequential data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like text strings, speech, or stock prices.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724650" y="1924050"/>
            <a:ext cx="473059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LSTMs (Long Short-Term Memory)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724650" y="27908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upgraded architecture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designed to solve the RNN memory flaw.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095375" y="31813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200150" y="318135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Memory Loop: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process inputs step-by-step, passing previous information forward to influence the current step.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095375" y="4238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1200150" y="4238625"/>
            <a:ext cx="42672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Flaw: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suffer from "short-term memory." Over long sequences, they forget the earliest inputs (the vanishing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/exploding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gradient problem).</a:t>
            </a:r>
            <a:endParaRPr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6858000" y="35433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962775" y="3543300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 Gates: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LSTMs introduce complex mechanisms (Forget, Input, Output gates) inside the node.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858000" y="4600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962775" y="4600575"/>
            <a:ext cx="4267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Selective Memory: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They can explicitly choose to remember critical information over thousands of steps, while forgetting irrelevant noise.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Mastering Time &amp; Sequences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50">
          <a:extLst>
            <a:ext uri="{FF2B5EF4-FFF2-40B4-BE49-F238E27FC236}">
              <a16:creationId xmlns:a16="http://schemas.microsoft.com/office/drawing/2014/main" id="{0D44C7B2-BDB0-FC89-88A7-2B58A1364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>
            <a:extLst>
              <a:ext uri="{FF2B5EF4-FFF2-40B4-BE49-F238E27FC236}">
                <a16:creationId xmlns:a16="http://schemas.microsoft.com/office/drawing/2014/main" id="{E684C66F-09A1-D316-E522-AAD425AC1BE2}"/>
              </a:ext>
            </a:extLst>
          </p:cNvPr>
          <p:cNvSpPr txBox="1"/>
          <p:nvPr/>
        </p:nvSpPr>
        <p:spPr>
          <a:xfrm>
            <a:off x="962025" y="19240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RNNs (Recurrent)</a:t>
            </a:r>
            <a:endParaRPr/>
          </a:p>
        </p:txBody>
      </p:sp>
      <p:sp>
        <p:nvSpPr>
          <p:cNvPr id="256" name="Google Shape;256;p23">
            <a:extLst>
              <a:ext uri="{FF2B5EF4-FFF2-40B4-BE49-F238E27FC236}">
                <a16:creationId xmlns:a16="http://schemas.microsoft.com/office/drawing/2014/main" id="{C5DF6867-41E8-14F5-85CC-14775B5AC68F}"/>
              </a:ext>
            </a:extLst>
          </p:cNvPr>
          <p:cNvSpPr txBox="1"/>
          <p:nvPr/>
        </p:nvSpPr>
        <p:spPr>
          <a:xfrm>
            <a:off x="6724650" y="1924050"/>
            <a:ext cx="473059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855F7"/>
                </a:solidFill>
                <a:latin typeface="Urbanist"/>
                <a:ea typeface="Urbanist"/>
                <a:cs typeface="Urbanist"/>
                <a:sym typeface="Urbanist"/>
              </a:rPr>
              <a:t>LSTMs (Long Short-Term Memory)</a:t>
            </a:r>
            <a:endParaRPr/>
          </a:p>
        </p:txBody>
      </p:sp>
      <p:sp>
        <p:nvSpPr>
          <p:cNvPr id="266" name="Google Shape;266;p23">
            <a:extLst>
              <a:ext uri="{FF2B5EF4-FFF2-40B4-BE49-F238E27FC236}">
                <a16:creationId xmlns:a16="http://schemas.microsoft.com/office/drawing/2014/main" id="{68ABA0AD-5EAD-0127-4A79-F429AE7BE2EC}"/>
              </a:ext>
            </a:extLst>
          </p:cNvPr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Mastering Time &amp; Sequences</a:t>
            </a:r>
            <a:endParaRPr/>
          </a:p>
        </p:txBody>
      </p:sp>
      <p:pic>
        <p:nvPicPr>
          <p:cNvPr id="2" name="Picture 2" descr="โมเดลประสาทเทียม Recurrent Neural Network (RNN) – ดร.กิตติมศักดิ์ ในจิต">
            <a:extLst>
              <a:ext uri="{FF2B5EF4-FFF2-40B4-BE49-F238E27FC236}">
                <a16:creationId xmlns:a16="http://schemas.microsoft.com/office/drawing/2014/main" id="{0D3487EE-A6AD-5C45-E649-CA546BB3D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729592"/>
            <a:ext cx="4140564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nderstanding Long Short-Term Memory (LSTM) Networks | Machine Learning ...">
            <a:extLst>
              <a:ext uri="{FF2B5EF4-FFF2-40B4-BE49-F238E27FC236}">
                <a16:creationId xmlns:a16="http://schemas.microsoft.com/office/drawing/2014/main" id="{0BDA977D-9AA1-BCD5-60D5-754CC27C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625" y="2860221"/>
            <a:ext cx="5718777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860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571500" y="571500"/>
            <a:ext cx="520065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Transformer-Based Models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1924050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Urbanist"/>
                <a:ea typeface="Urbanist"/>
                <a:cs typeface="Urbanist"/>
                <a:sym typeface="Urbanist"/>
              </a:rPr>
              <a:t>The Generative AI Engine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23907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2017, Transformers revolutionized NLP with a simple concept: </a:t>
            </a:r>
            <a:r>
              <a:rPr lang="en-US" sz="150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"Attention is All You Need."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31908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Parallel Processing: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Unlike RNNs that read text word-by-word, Transformers process entire sentences simultaneously, drastically speeding up training times.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4295775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Self-Attention Mechanism: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model mathematically weights the relationship between every word in a sequence. It understands context deeply (e.g., knowing the word "bank" means a river vs. a financial institution based on the surrounding sentence).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601027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55F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ChatGPT, BERT, Claude.</a:t>
            </a:r>
            <a:endParaRPr/>
          </a:p>
        </p:txBody>
      </p:sp>
      <p:pic>
        <p:nvPicPr>
          <p:cNvPr id="4104" name="Picture 8" descr="Transformer architecture with its encoder (left) and decoder (right) (Vaswani et al., 2017, p. 3)">
            <a:extLst>
              <a:ext uri="{FF2B5EF4-FFF2-40B4-BE49-F238E27FC236}">
                <a16:creationId xmlns:a16="http://schemas.microsoft.com/office/drawing/2014/main" id="{A709EA14-5E64-D8FB-5AC6-0AB25F749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2" y="1123949"/>
            <a:ext cx="4643183" cy="46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34925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33525"/>
            <a:ext cx="3492549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33525"/>
            <a:ext cx="3492549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967656" y="2733675"/>
            <a:ext cx="700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CNNs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866775" y="32004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Spatial Data &amp; Vision. Best for processing pixels, finding patterns in grids, and powering computer vision.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5160883" y="2733675"/>
            <a:ext cx="18702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RNNs &amp; LSTMs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4645074" y="32004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 &amp; Sequences. Best for tracking data over time, maintaining state, and analyzing continuous audio or metrics.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9014192" y="2733675"/>
            <a:ext cx="17202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Transformers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423374" y="3200400"/>
            <a:ext cx="29019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 &amp; Generation. The undisputed network of Natural Language Processing and modern Large Language Models.</a:t>
            </a:r>
            <a:endParaRPr dirty="0"/>
          </a:p>
        </p:txBody>
      </p:sp>
      <p:pic>
        <p:nvPicPr>
          <p:cNvPr id="293" name="Google Shape;29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36712" y="1962150"/>
            <a:ext cx="5619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48350" y="196215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64737" y="1962150"/>
            <a:ext cx="6191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Neural Network Ecosystem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1581</Words>
  <Application>Microsoft Office PowerPoint</Application>
  <PresentationFormat>Widescreen</PresentationFormat>
  <Paragraphs>152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 SemiBold</vt:lpstr>
      <vt:lpstr>Urbanist SemiBold</vt:lpstr>
      <vt:lpstr>Urbanist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Mouad Zemzoumi &lt; 119509 &gt;</cp:lastModifiedBy>
  <cp:revision>11</cp:revision>
  <dcterms:modified xsi:type="dcterms:W3CDTF">2026-04-05T13:10:57Z</dcterms:modified>
</cp:coreProperties>
</file>