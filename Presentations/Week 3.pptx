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72" r:id="rId3"/>
    <p:sldId id="257" r:id="rId4"/>
    <p:sldId id="259" r:id="rId5"/>
    <p:sldId id="260" r:id="rId6"/>
    <p:sldId id="261" r:id="rId7"/>
    <p:sldId id="262" r:id="rId8"/>
    <p:sldId id="263" r:id="rId9"/>
    <p:sldId id="258" r:id="rId10"/>
    <p:sldId id="264" r:id="rId11"/>
    <p:sldId id="265" r:id="rId12"/>
    <p:sldId id="270" r:id="rId13"/>
    <p:sldId id="266" r:id="rId14"/>
    <p:sldId id="271" r:id="rId15"/>
    <p:sldId id="267" r:id="rId16"/>
  </p:sldIdLst>
  <p:sldSz cx="12192000" cy="6858000"/>
  <p:notesSz cx="6858000" cy="9144000"/>
  <p:embeddedFontLst>
    <p:embeddedFont>
      <p:font typeface="Lato" panose="020F0502020204030203" pitchFamily="34" charset="0"/>
      <p:regular r:id="rId18"/>
      <p:bold r:id="rId19"/>
      <p:italic r:id="rId20"/>
      <p:boldItalic r:id="rId21"/>
    </p:embeddedFont>
    <p:embeddedFont>
      <p:font typeface="Poppins" panose="000005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80" autoAdjust="0"/>
  </p:normalViewPr>
  <p:slideViewPr>
    <p:cSldViewPr snapToGrid="0">
      <p:cViewPr varScale="1">
        <p:scale>
          <a:sx n="58" d="100"/>
          <a:sy n="58" d="100"/>
        </p:scale>
        <p:origin x="964"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-If the model has Low </a:t>
            </a:r>
            <a:r>
              <a:rPr lang="fr-FR" dirty="0" err="1"/>
              <a:t>Bias</a:t>
            </a:r>
            <a:r>
              <a:rPr lang="fr-FR" dirty="0"/>
              <a:t> and high Variance </a:t>
            </a:r>
            <a:r>
              <a:rPr lang="fr-FR" dirty="0" err="1"/>
              <a:t>it</a:t>
            </a:r>
            <a:r>
              <a:rPr lang="fr-FR" dirty="0"/>
              <a:t> </a:t>
            </a:r>
            <a:r>
              <a:rPr lang="fr-FR" dirty="0" err="1"/>
              <a:t>would</a:t>
            </a:r>
            <a:r>
              <a:rPr lang="fr-FR" dirty="0"/>
              <a:t> do </a:t>
            </a:r>
            <a:r>
              <a:rPr lang="fr-FR" dirty="0" err="1"/>
              <a:t>perfectly</a:t>
            </a:r>
            <a:r>
              <a:rPr lang="fr-FR" dirty="0"/>
              <a:t>  on the training data </a:t>
            </a:r>
            <a:r>
              <a:rPr lang="fr-FR" dirty="0" err="1"/>
              <a:t>which</a:t>
            </a:r>
            <a:r>
              <a:rPr lang="fr-FR" dirty="0"/>
              <a:t> </a:t>
            </a:r>
            <a:r>
              <a:rPr lang="fr-FR" dirty="0" err="1"/>
              <a:t>means</a:t>
            </a:r>
            <a:r>
              <a:rPr lang="fr-FR" dirty="0"/>
              <a:t> </a:t>
            </a:r>
            <a:r>
              <a:rPr lang="fr-FR" dirty="0" err="1"/>
              <a:t>it</a:t>
            </a:r>
            <a:r>
              <a:rPr lang="fr-FR" dirty="0"/>
              <a:t> </a:t>
            </a:r>
            <a:r>
              <a:rPr lang="fr-FR" dirty="0" err="1"/>
              <a:t>would</a:t>
            </a:r>
            <a:r>
              <a:rPr lang="fr-FR" dirty="0"/>
              <a:t> </a:t>
            </a:r>
            <a:r>
              <a:rPr lang="fr-FR" dirty="0" err="1"/>
              <a:t>also</a:t>
            </a:r>
            <a:r>
              <a:rPr lang="fr-FR" dirty="0"/>
              <a:t> capture the noise</a:t>
            </a:r>
          </a:p>
          <a:p>
            <a:pPr marL="0" lvl="0" indent="0" algn="l" rtl="0">
              <a:spcBef>
                <a:spcPts val="0"/>
              </a:spcBef>
              <a:spcAft>
                <a:spcPts val="0"/>
              </a:spcAft>
              <a:buNone/>
            </a:pPr>
            <a:r>
              <a:rPr lang="fr-FR" dirty="0"/>
              <a:t>(Noise in the </a:t>
            </a:r>
            <a:r>
              <a:rPr lang="fr-FR" dirty="0" err="1"/>
              <a:t>context</a:t>
            </a:r>
            <a:r>
              <a:rPr lang="fr-FR" dirty="0"/>
              <a:t> of Ai </a:t>
            </a:r>
            <a:r>
              <a:rPr lang="fr-FR" dirty="0" err="1"/>
              <a:t>means</a:t>
            </a:r>
            <a:r>
              <a:rPr lang="fr-FR" dirty="0"/>
              <a:t> </a:t>
            </a:r>
            <a:r>
              <a:rPr lang="fr-FR" dirty="0" err="1"/>
              <a:t>errors</a:t>
            </a:r>
            <a:r>
              <a:rPr lang="fr-FR" dirty="0"/>
              <a:t> in data like typos in values 1,000 </a:t>
            </a:r>
            <a:r>
              <a:rPr lang="fr-FR" dirty="0" err="1"/>
              <a:t>instead</a:t>
            </a:r>
            <a:r>
              <a:rPr lang="fr-FR" dirty="0"/>
              <a:t> of 10,000 or </a:t>
            </a:r>
            <a:r>
              <a:rPr lang="fr-FR" dirty="0" err="1"/>
              <a:t>misclassifications</a:t>
            </a:r>
            <a:r>
              <a:rPr lang="fr-FR" dirty="0"/>
              <a:t>).</a:t>
            </a:r>
          </a:p>
          <a:p>
            <a:pPr marL="0" lvl="0" indent="0" algn="l" rtl="0">
              <a:spcBef>
                <a:spcPts val="0"/>
              </a:spcBef>
              <a:spcAft>
                <a:spcPts val="0"/>
              </a:spcAft>
              <a:buNone/>
            </a:pPr>
            <a:r>
              <a:rPr lang="fr-FR" dirty="0"/>
              <a:t>-If the model has high </a:t>
            </a:r>
            <a:r>
              <a:rPr lang="fr-FR" dirty="0" err="1"/>
              <a:t>bias</a:t>
            </a:r>
            <a:r>
              <a:rPr lang="fr-FR" dirty="0"/>
              <a:t> and </a:t>
            </a:r>
            <a:r>
              <a:rPr lang="fr-FR" dirty="0" err="1"/>
              <a:t>low</a:t>
            </a:r>
            <a:r>
              <a:rPr lang="fr-FR" dirty="0"/>
              <a:t> variance </a:t>
            </a:r>
            <a:r>
              <a:rPr lang="fr-FR" dirty="0" err="1"/>
              <a:t>it</a:t>
            </a:r>
            <a:r>
              <a:rPr lang="fr-FR" dirty="0"/>
              <a:t> </a:t>
            </a:r>
            <a:r>
              <a:rPr lang="fr-FR" dirty="0" err="1"/>
              <a:t>would</a:t>
            </a:r>
            <a:r>
              <a:rPr lang="fr-FR" dirty="0"/>
              <a:t> </a:t>
            </a:r>
            <a:r>
              <a:rPr lang="fr-FR" dirty="0" err="1"/>
              <a:t>be</a:t>
            </a:r>
            <a:r>
              <a:rPr lang="fr-FR" dirty="0"/>
              <a:t> </a:t>
            </a:r>
            <a:r>
              <a:rPr lang="fr-FR" dirty="0" err="1"/>
              <a:t>too</a:t>
            </a:r>
            <a:r>
              <a:rPr lang="fr-FR" dirty="0"/>
              <a:t> </a:t>
            </a:r>
            <a:r>
              <a:rPr lang="fr-FR" dirty="0" err="1"/>
              <a:t>general</a:t>
            </a:r>
            <a:r>
              <a:rPr lang="fr-FR" dirty="0"/>
              <a:t> </a:t>
            </a:r>
            <a:r>
              <a:rPr lang="fr-FR" dirty="0" err="1"/>
              <a:t>it</a:t>
            </a:r>
            <a:r>
              <a:rPr lang="fr-FR" dirty="0"/>
              <a:t> can t fit </a:t>
            </a:r>
            <a:r>
              <a:rPr lang="fr-FR" dirty="0" err="1"/>
              <a:t>some</a:t>
            </a:r>
            <a:r>
              <a:rPr lang="fr-FR" dirty="0"/>
              <a:t> </a:t>
            </a:r>
            <a:r>
              <a:rPr lang="fr-FR" dirty="0" err="1"/>
              <a:t>specific</a:t>
            </a:r>
            <a:r>
              <a:rPr lang="fr-FR" dirty="0"/>
              <a:t> data.</a:t>
            </a:r>
          </a:p>
          <a:p>
            <a:pPr marL="0" lvl="0" indent="0" algn="l" rtl="0">
              <a:spcBef>
                <a:spcPts val="0"/>
              </a:spcBef>
              <a:spcAft>
                <a:spcPts val="0"/>
              </a:spcAft>
              <a:buNone/>
            </a:pPr>
            <a:r>
              <a:rPr lang="fr-FR" dirty="0"/>
              <a:t>-</a:t>
            </a:r>
            <a:r>
              <a:rPr lang="en-US" b="1" dirty="0"/>
              <a:t>Bias</a:t>
            </a:r>
            <a:r>
              <a:rPr lang="en-US" dirty="0"/>
              <a:t> is about whether you are aiming at the right spot (the bullseye).</a:t>
            </a:r>
          </a:p>
          <a:p>
            <a:pPr marL="0" lvl="0" indent="0" algn="l" rtl="0">
              <a:spcBef>
                <a:spcPts val="0"/>
              </a:spcBef>
              <a:spcAft>
                <a:spcPts val="0"/>
              </a:spcAft>
              <a:buNone/>
            </a:pPr>
            <a:r>
              <a:rPr lang="en-US" b="1" dirty="0"/>
              <a:t>-Variance</a:t>
            </a:r>
            <a:r>
              <a:rPr lang="en-US" dirty="0"/>
              <a:t> is about how much your hand shakes when you throw.</a:t>
            </a:r>
          </a:p>
          <a:p>
            <a:pPr marL="0" lvl="0" indent="0" algn="l" rtl="0">
              <a:spcBef>
                <a:spcPts val="0"/>
              </a:spcBef>
              <a:spcAft>
                <a:spcPts val="0"/>
              </a:spcAft>
              <a:buNone/>
            </a:pPr>
            <a:endParaRPr dirty="0"/>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cb7f75c97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3cb7f75c97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b7f75c97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3cb7f75c97a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cb7f75c97a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cb7f75c97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cb7f75c97a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cb7f75c97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-This </a:t>
            </a:r>
            <a:r>
              <a:rPr lang="fr-FR" dirty="0" err="1"/>
              <a:t>is</a:t>
            </a:r>
            <a:r>
              <a:rPr lang="fr-FR" dirty="0"/>
              <a:t> </a:t>
            </a:r>
            <a:r>
              <a:rPr lang="fr-FR" dirty="0" err="1"/>
              <a:t>done</a:t>
            </a:r>
            <a:r>
              <a:rPr lang="fr-FR" dirty="0"/>
              <a:t> </a:t>
            </a:r>
            <a:r>
              <a:rPr lang="fr-FR" dirty="0" err="1"/>
              <a:t>during</a:t>
            </a:r>
            <a:r>
              <a:rPr lang="fr-FR" dirty="0"/>
              <a:t> Gradient </a:t>
            </a:r>
            <a:r>
              <a:rPr lang="fr-FR" dirty="0" err="1"/>
              <a:t>Descent</a:t>
            </a:r>
            <a:r>
              <a:rPr lang="fr-FR" dirty="0"/>
              <a:t>.</a:t>
            </a:r>
          </a:p>
          <a:p>
            <a:pPr marL="0" lvl="0" indent="0" algn="l" rtl="0">
              <a:spcBef>
                <a:spcPts val="0"/>
              </a:spcBef>
              <a:spcAft>
                <a:spcPts val="0"/>
              </a:spcAft>
              <a:buNone/>
            </a:pPr>
            <a:r>
              <a:rPr lang="fr-FR" dirty="0"/>
              <a:t>-It </a:t>
            </a:r>
            <a:r>
              <a:rPr lang="fr-FR" dirty="0" err="1"/>
              <a:t>prevents</a:t>
            </a:r>
            <a:r>
              <a:rPr lang="fr-FR" dirty="0"/>
              <a:t> the model </a:t>
            </a:r>
            <a:r>
              <a:rPr lang="fr-FR" dirty="0" err="1"/>
              <a:t>from</a:t>
            </a:r>
            <a:r>
              <a:rPr lang="fr-FR" dirty="0"/>
              <a:t> </a:t>
            </a:r>
            <a:r>
              <a:rPr lang="fr-FR" dirty="0" err="1"/>
              <a:t>overfitting</a:t>
            </a:r>
            <a:r>
              <a:rPr lang="fr-FR" dirty="0"/>
              <a:t>.</a:t>
            </a:r>
          </a:p>
          <a:p>
            <a:pPr marL="0" lvl="0" indent="0" algn="l" rtl="0">
              <a:spcBef>
                <a:spcPts val="0"/>
              </a:spcBef>
              <a:spcAft>
                <a:spcPts val="0"/>
              </a:spcAft>
              <a:buNone/>
            </a:pPr>
            <a:r>
              <a:rPr lang="fr-FR" dirty="0"/>
              <a:t>-You can </a:t>
            </a:r>
            <a:r>
              <a:rPr lang="fr-FR" dirty="0" err="1"/>
              <a:t>see</a:t>
            </a:r>
            <a:r>
              <a:rPr lang="fr-FR" dirty="0"/>
              <a:t> </a:t>
            </a:r>
            <a:r>
              <a:rPr lang="fr-FR" dirty="0" err="1"/>
              <a:t>it</a:t>
            </a:r>
            <a:r>
              <a:rPr lang="fr-FR" dirty="0"/>
              <a:t> as a speed </a:t>
            </a:r>
            <a:r>
              <a:rPr lang="fr-FR" dirty="0" err="1"/>
              <a:t>limit</a:t>
            </a:r>
            <a:r>
              <a:rPr lang="fr-FR" dirty="0"/>
              <a:t> to stop the model </a:t>
            </a:r>
            <a:r>
              <a:rPr lang="fr-FR" dirty="0" err="1"/>
              <a:t>from</a:t>
            </a:r>
            <a:r>
              <a:rPr lang="fr-FR" dirty="0"/>
              <a:t> </a:t>
            </a:r>
            <a:r>
              <a:rPr lang="fr-FR" dirty="0" err="1"/>
              <a:t>overreacting</a:t>
            </a:r>
            <a:r>
              <a:rPr lang="fr-FR" dirty="0"/>
              <a:t> to noise.</a:t>
            </a:r>
            <a:endParaRPr dirty="0"/>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A57A49AF-57FA-7BEF-BD14-29FB26EAFC26}"/>
            </a:ext>
          </a:extLst>
        </p:cNvPr>
        <p:cNvGrpSpPr/>
        <p:nvPr/>
      </p:nvGrpSpPr>
      <p:grpSpPr>
        <a:xfrm>
          <a:off x="0" y="0"/>
          <a:ext cx="0" cy="0"/>
          <a:chOff x="0" y="0"/>
          <a:chExt cx="0" cy="0"/>
        </a:xfrm>
      </p:grpSpPr>
      <p:sp>
        <p:nvSpPr>
          <p:cNvPr id="176" name="Google Shape;176;p7:notes">
            <a:extLst>
              <a:ext uri="{FF2B5EF4-FFF2-40B4-BE49-F238E27FC236}">
                <a16:creationId xmlns:a16="http://schemas.microsoft.com/office/drawing/2014/main" id="{322E547E-C48A-AACD-D7DF-8FF8ABE2BB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MSE is like a teacher who takes off one point for every mistake. Cross-Entropy is like a teacher who gives you a tiny penalty for a small error, but a massive failing grade if you are 100% confident in a totally wrong answer.</a:t>
            </a:r>
            <a:endParaRPr dirty="0"/>
          </a:p>
        </p:txBody>
      </p:sp>
      <p:sp>
        <p:nvSpPr>
          <p:cNvPr id="177" name="Google Shape;177;p7:notes">
            <a:extLst>
              <a:ext uri="{FF2B5EF4-FFF2-40B4-BE49-F238E27FC236}">
                <a16:creationId xmlns:a16="http://schemas.microsoft.com/office/drawing/2014/main" id="{7F37F156-2D6B-2AAC-A15B-1A63D319A5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606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ACC33B2B-80C6-7E94-6DE9-1294E6FD6535}"/>
            </a:ext>
          </a:extLst>
        </p:cNvPr>
        <p:cNvGrpSpPr/>
        <p:nvPr/>
      </p:nvGrpSpPr>
      <p:grpSpPr>
        <a:xfrm>
          <a:off x="0" y="0"/>
          <a:ext cx="0" cy="0"/>
          <a:chOff x="0" y="0"/>
          <a:chExt cx="0" cy="0"/>
        </a:xfrm>
      </p:grpSpPr>
      <p:sp>
        <p:nvSpPr>
          <p:cNvPr id="190" name="Google Shape;190;p8:notes">
            <a:extLst>
              <a:ext uri="{FF2B5EF4-FFF2-40B4-BE49-F238E27FC236}">
                <a16:creationId xmlns:a16="http://schemas.microsoft.com/office/drawing/2014/main" id="{BC6F5189-8695-73F6-39BB-AE797362F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1" name="Google Shape;191;p8:notes">
            <a:extLst>
              <a:ext uri="{FF2B5EF4-FFF2-40B4-BE49-F238E27FC236}">
                <a16:creationId xmlns:a16="http://schemas.microsoft.com/office/drawing/2014/main" id="{4B096CA5-2630-0F09-3532-BA8B8D5C6E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6819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 </a:t>
            </a:r>
            <a:r>
              <a:rPr lang="fr-FR" dirty="0" err="1"/>
              <a:t>Error</a:t>
            </a:r>
            <a:r>
              <a:rPr lang="fr-FR" dirty="0"/>
              <a:t> </a:t>
            </a:r>
            <a:r>
              <a:rPr lang="fr-FR" dirty="0" err="1"/>
              <a:t>Metric</a:t>
            </a:r>
            <a:r>
              <a:rPr lang="fr-FR" dirty="0"/>
              <a:t> like MSE or Cross-</a:t>
            </a:r>
            <a:r>
              <a:rPr lang="fr-FR" dirty="0" err="1"/>
              <a:t>Entropy</a:t>
            </a:r>
            <a:r>
              <a:rPr lang="fr-FR" dirty="0"/>
              <a:t> </a:t>
            </a:r>
            <a:r>
              <a:rPr lang="fr-FR" dirty="0" err="1"/>
              <a:t>it</a:t>
            </a:r>
            <a:r>
              <a:rPr lang="fr-FR" dirty="0"/>
              <a:t> </a:t>
            </a:r>
            <a:r>
              <a:rPr lang="fr-FR" dirty="0" err="1"/>
              <a:t>just</a:t>
            </a:r>
            <a:r>
              <a:rPr lang="fr-FR" dirty="0"/>
              <a:t> uses Distance </a:t>
            </a:r>
            <a:r>
              <a:rPr lang="fr-FR" dirty="0" err="1"/>
              <a:t>from</a:t>
            </a:r>
            <a:r>
              <a:rPr lang="fr-FR" dirty="0"/>
              <a:t> all </a:t>
            </a:r>
            <a:r>
              <a:rPr lang="fr-FR" dirty="0" err="1"/>
              <a:t>historical</a:t>
            </a:r>
            <a:r>
              <a:rPr lang="fr-FR" dirty="0"/>
              <a:t> Data points.</a:t>
            </a:r>
          </a:p>
          <a:p>
            <a:pPr marL="0" lvl="0" indent="0" algn="l" rtl="0">
              <a:spcBef>
                <a:spcPts val="0"/>
              </a:spcBef>
              <a:spcAft>
                <a:spcPts val="0"/>
              </a:spcAft>
              <a:buNone/>
            </a:pPr>
            <a:r>
              <a:rPr lang="fr-FR" dirty="0"/>
              <a:t>-</a:t>
            </a:r>
            <a:r>
              <a:rPr lang="fr-FR" dirty="0" err="1"/>
              <a:t>Choice</a:t>
            </a:r>
            <a:r>
              <a:rPr lang="fr-FR" dirty="0"/>
              <a:t> of K </a:t>
            </a:r>
            <a:r>
              <a:rPr lang="fr-FR" dirty="0" err="1"/>
              <a:t>symbolizes</a:t>
            </a:r>
            <a:r>
              <a:rPr lang="fr-FR" dirty="0"/>
              <a:t> </a:t>
            </a:r>
            <a:r>
              <a:rPr lang="fr-FR" dirty="0" err="1"/>
              <a:t>Bias</a:t>
            </a:r>
            <a:r>
              <a:rPr lang="fr-FR" dirty="0"/>
              <a:t>-Variance </a:t>
            </a:r>
            <a:r>
              <a:rPr lang="fr-FR" dirty="0" err="1"/>
              <a:t>Tradeoff</a:t>
            </a:r>
            <a:r>
              <a:rPr lang="fr-FR" dirty="0"/>
              <a:t>.</a:t>
            </a:r>
          </a:p>
          <a:p>
            <a:pPr marL="0" lvl="0" indent="0" algn="l" rtl="0">
              <a:spcBef>
                <a:spcPts val="0"/>
              </a:spcBef>
              <a:spcAft>
                <a:spcPts val="0"/>
              </a:spcAft>
              <a:buNone/>
            </a:pPr>
            <a:r>
              <a:rPr lang="fr-FR" dirty="0"/>
              <a:t>-K-NN can </a:t>
            </a:r>
            <a:r>
              <a:rPr lang="fr-FR" dirty="0" err="1"/>
              <a:t>be</a:t>
            </a:r>
            <a:r>
              <a:rPr lang="fr-FR" dirty="0"/>
              <a:t> </a:t>
            </a:r>
            <a:r>
              <a:rPr lang="fr-FR" dirty="0" err="1"/>
              <a:t>used</a:t>
            </a:r>
            <a:r>
              <a:rPr lang="fr-FR" dirty="0"/>
              <a:t> for </a:t>
            </a:r>
            <a:r>
              <a:rPr lang="fr-FR" dirty="0" err="1"/>
              <a:t>recommendation</a:t>
            </a:r>
            <a:r>
              <a:rPr lang="fr-FR" dirty="0"/>
              <a:t> </a:t>
            </a:r>
            <a:r>
              <a:rPr lang="fr-FR" dirty="0" err="1"/>
              <a:t>systems</a:t>
            </a:r>
            <a:r>
              <a:rPr lang="fr-FR" dirty="0"/>
              <a:t> </a:t>
            </a:r>
            <a:r>
              <a:rPr lang="fr-FR"/>
              <a:t>for instance.</a:t>
            </a:r>
            <a:endParaRPr dirty="0"/>
          </a:p>
        </p:txBody>
      </p:sp>
      <p:sp>
        <p:nvSpPr>
          <p:cNvPr id="202" name="Google Shape;20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660571" y="1586650"/>
            <a:ext cx="6870858" cy="16250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fr-FR" sz="4800" b="1" dirty="0">
                <a:solidFill>
                  <a:srgbClr val="0F172A"/>
                </a:solidFill>
                <a:latin typeface="Poppins"/>
                <a:cs typeface="Poppins"/>
                <a:sym typeface="Poppins"/>
              </a:rPr>
              <a:t>I</a:t>
            </a:r>
            <a:r>
              <a:rPr lang="en-US" sz="4800" b="1" dirty="0" err="1">
                <a:solidFill>
                  <a:srgbClr val="0F172A"/>
                </a:solidFill>
                <a:latin typeface="Poppins"/>
                <a:cs typeface="Poppins"/>
                <a:sym typeface="Poppins"/>
              </a:rPr>
              <a:t>ntro</a:t>
            </a:r>
            <a:r>
              <a:rPr lang="en-US" sz="4800" b="1" dirty="0">
                <a:solidFill>
                  <a:srgbClr val="0F172A"/>
                </a:solidFill>
                <a:latin typeface="Poppins"/>
                <a:cs typeface="Poppins"/>
                <a:sym typeface="Poppins"/>
              </a:rPr>
              <a:t> To Supervised Learning</a:t>
            </a:r>
            <a:endParaRPr dirty="0"/>
          </a:p>
        </p:txBody>
      </p:sp>
      <p:sp>
        <p:nvSpPr>
          <p:cNvPr id="86" name="Google Shape;86;p13"/>
          <p:cNvSpPr txBox="1"/>
          <p:nvPr/>
        </p:nvSpPr>
        <p:spPr>
          <a:xfrm>
            <a:off x="2286000" y="3211710"/>
            <a:ext cx="7620000" cy="830997"/>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64748B"/>
                </a:solidFill>
                <a:latin typeface="Lato"/>
                <a:ea typeface="Lato"/>
                <a:cs typeface="Lato"/>
                <a:sym typeface="Lato"/>
              </a:rPr>
              <a:t>Class 3: From Linear Models to K-Nearest Neighbors. Finding the sweet spot between simplicity and complexity in supervised learning models.</a:t>
            </a:r>
            <a:endParaRPr dirty="0"/>
          </a:p>
        </p:txBody>
      </p:sp>
      <p:sp>
        <p:nvSpPr>
          <p:cNvPr id="87" name="Google Shape;87;p13"/>
          <p:cNvSpPr txBox="1"/>
          <p:nvPr/>
        </p:nvSpPr>
        <p:spPr>
          <a:xfrm>
            <a:off x="5233987" y="4421385"/>
            <a:ext cx="17241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0B981"/>
                </a:solidFill>
                <a:latin typeface="Lato"/>
                <a:ea typeface="Lato"/>
                <a:cs typeface="Lato"/>
                <a:sym typeface="Lato"/>
              </a:rPr>
              <a:t>AI BOOTCAMP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Supervised learning and unsupervised learning. Supervised learning uses...  | Download Scientific Diagram">
            <a:extLst>
              <a:ext uri="{FF2B5EF4-FFF2-40B4-BE49-F238E27FC236}">
                <a16:creationId xmlns:a16="http://schemas.microsoft.com/office/drawing/2014/main" id="{647BC2F7-D724-30D9-AF00-DCB46BAE90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989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6381750" y="1690687"/>
            <a:ext cx="5238750" cy="4286250"/>
          </a:xfrm>
          <a:prstGeom prst="rect">
            <a:avLst/>
          </a:prstGeom>
          <a:noFill/>
          <a:ln>
            <a:noFill/>
          </a:ln>
        </p:spPr>
      </p:pic>
      <p:sp>
        <p:nvSpPr>
          <p:cNvPr id="94" name="Google Shape;94;p14"/>
          <p:cNvSpPr txBox="1"/>
          <p:nvPr/>
        </p:nvSpPr>
        <p:spPr>
          <a:xfrm>
            <a:off x="571500" y="2081212"/>
            <a:ext cx="550068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293B"/>
                </a:solidFill>
                <a:latin typeface="Poppins"/>
                <a:ea typeface="Poppins"/>
                <a:cs typeface="Poppins"/>
                <a:sym typeface="Poppins"/>
              </a:rPr>
              <a:t>The Estimator's Dilemma</a:t>
            </a:r>
            <a:endParaRPr/>
          </a:p>
        </p:txBody>
      </p:sp>
      <p:sp>
        <p:nvSpPr>
          <p:cNvPr id="95" name="Google Shape;95;p14"/>
          <p:cNvSpPr txBox="1"/>
          <p:nvPr/>
        </p:nvSpPr>
        <p:spPr>
          <a:xfrm>
            <a:off x="571500" y="2671762"/>
            <a:ext cx="523875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An "Estimator" is just our guess at how the world works. To make a good guess, we must fight two enemies:</a:t>
            </a:r>
            <a:endParaRPr/>
          </a:p>
        </p:txBody>
      </p:sp>
      <p:sp>
        <p:nvSpPr>
          <p:cNvPr id="96" name="Google Shape;96;p14"/>
          <p:cNvSpPr txBox="1"/>
          <p:nvPr/>
        </p:nvSpPr>
        <p:spPr>
          <a:xfrm>
            <a:off x="571500" y="4872037"/>
            <a:ext cx="523875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Our goal is to minimize </a:t>
            </a:r>
            <a:r>
              <a:rPr lang="en-US" sz="1500" b="1" i="0" u="none" strike="noStrike" cap="none" dirty="0">
                <a:solidFill>
                  <a:srgbClr val="475569"/>
                </a:solidFill>
                <a:latin typeface="Lato"/>
                <a:ea typeface="Lato"/>
                <a:cs typeface="Lato"/>
                <a:sym typeface="Lato"/>
              </a:rPr>
              <a:t>MSE (Mean Squared Error)</a:t>
            </a:r>
            <a:r>
              <a:rPr lang="en-US" sz="1500" b="0" i="0" u="none" strike="noStrike" cap="none" dirty="0">
                <a:solidFill>
                  <a:srgbClr val="475569"/>
                </a:solidFill>
                <a:latin typeface="Lato"/>
                <a:ea typeface="Lato"/>
                <a:cs typeface="Lato"/>
                <a:sym typeface="Lato"/>
              </a:rPr>
              <a:t>, which is just Bias² + Variance</a:t>
            </a:r>
            <a:r>
              <a:rPr lang="en-US" sz="1500" dirty="0">
                <a:solidFill>
                  <a:srgbClr val="475569"/>
                </a:solidFill>
                <a:latin typeface="Lato"/>
                <a:ea typeface="Lato"/>
                <a:cs typeface="Lato"/>
                <a:sym typeface="Lato"/>
              </a:rPr>
              <a:t> </a:t>
            </a:r>
            <a:r>
              <a:rPr lang="en-US" sz="1500" b="0" i="0" u="none" strike="noStrike" cap="none" dirty="0">
                <a:solidFill>
                  <a:srgbClr val="475569"/>
                </a:solidFill>
                <a:latin typeface="Lato"/>
                <a:ea typeface="Lato"/>
                <a:cs typeface="Lato"/>
                <a:sym typeface="Lato"/>
              </a:rPr>
              <a:t>(Regression).</a:t>
            </a:r>
            <a:endParaRPr dirty="0"/>
          </a:p>
        </p:txBody>
      </p:sp>
      <p:pic>
        <p:nvPicPr>
          <p:cNvPr id="97" name="Google Shape;97;p14" descr="image.png"/>
          <p:cNvPicPr preferRelativeResize="0"/>
          <p:nvPr/>
        </p:nvPicPr>
        <p:blipFill rotWithShape="1">
          <a:blip r:embed="rId5">
            <a:alphaModFix/>
          </a:blip>
          <a:srcRect/>
          <a:stretch/>
        </p:blipFill>
        <p:spPr>
          <a:xfrm>
            <a:off x="6381750" y="1690687"/>
            <a:ext cx="5238750" cy="4286250"/>
          </a:xfrm>
          <a:prstGeom prst="rect">
            <a:avLst/>
          </a:prstGeom>
          <a:noFill/>
          <a:ln>
            <a:noFill/>
          </a:ln>
        </p:spPr>
      </p:pic>
      <p:sp>
        <p:nvSpPr>
          <p:cNvPr id="98" name="Google Shape;98;p14"/>
          <p:cNvSpPr txBox="1"/>
          <p:nvPr/>
        </p:nvSpPr>
        <p:spPr>
          <a:xfrm>
            <a:off x="838200" y="3395662"/>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a:ea typeface="Lato"/>
                <a:cs typeface="Lato"/>
                <a:sym typeface="Lato"/>
              </a:rPr>
              <a:t>•</a:t>
            </a:r>
            <a:endParaRPr/>
          </a:p>
        </p:txBody>
      </p:sp>
      <p:sp>
        <p:nvSpPr>
          <p:cNvPr id="99" name="Google Shape;99;p14"/>
          <p:cNvSpPr txBox="1"/>
          <p:nvPr/>
        </p:nvSpPr>
        <p:spPr>
          <a:xfrm>
            <a:off x="952500" y="3395662"/>
            <a:ext cx="4857750" cy="692497"/>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Lato"/>
                <a:ea typeface="Lato"/>
                <a:cs typeface="Lato"/>
                <a:sym typeface="Lato"/>
              </a:rPr>
              <a:t>Bias:</a:t>
            </a:r>
            <a:r>
              <a:rPr lang="en-US" sz="1500" b="0" i="0" u="none" strike="noStrike" cap="none" dirty="0">
                <a:solidFill>
                  <a:srgbClr val="475569"/>
                </a:solidFill>
                <a:latin typeface="Lato"/>
                <a:ea typeface="Lato"/>
                <a:cs typeface="Lato"/>
                <a:sym typeface="Lato"/>
              </a:rPr>
              <a:t> Our model is too “</a:t>
            </a:r>
            <a:r>
              <a:rPr lang="en-US" sz="1500" dirty="0">
                <a:solidFill>
                  <a:srgbClr val="475569"/>
                </a:solidFill>
                <a:latin typeface="Lato"/>
                <a:ea typeface="Lato"/>
                <a:cs typeface="Lato"/>
                <a:sym typeface="Lato"/>
              </a:rPr>
              <a:t>naive</a:t>
            </a:r>
            <a:r>
              <a:rPr lang="en-US" sz="1500" b="0" i="0" u="none" strike="noStrike" cap="none" dirty="0">
                <a:solidFill>
                  <a:srgbClr val="475569"/>
                </a:solidFill>
                <a:latin typeface="Lato"/>
                <a:ea typeface="Lato"/>
                <a:cs typeface="Lato"/>
                <a:sym typeface="Lato"/>
              </a:rPr>
              <a:t>" or simple. It misses the real patterns (Underfitting).</a:t>
            </a:r>
            <a:endParaRPr dirty="0"/>
          </a:p>
        </p:txBody>
      </p:sp>
      <p:sp>
        <p:nvSpPr>
          <p:cNvPr id="100" name="Google Shape;100;p14"/>
          <p:cNvSpPr txBox="1"/>
          <p:nvPr/>
        </p:nvSpPr>
        <p:spPr>
          <a:xfrm>
            <a:off x="838200" y="4110037"/>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a:ea typeface="Lato"/>
                <a:cs typeface="Lato"/>
                <a:sym typeface="Lato"/>
              </a:rPr>
              <a:t>•</a:t>
            </a:r>
            <a:endParaRPr/>
          </a:p>
        </p:txBody>
      </p:sp>
      <p:sp>
        <p:nvSpPr>
          <p:cNvPr id="101" name="Google Shape;101;p14"/>
          <p:cNvSpPr txBox="1"/>
          <p:nvPr/>
        </p:nvSpPr>
        <p:spPr>
          <a:xfrm>
            <a:off x="952500" y="4110037"/>
            <a:ext cx="4857750" cy="692497"/>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Lato"/>
                <a:ea typeface="Lato"/>
                <a:cs typeface="Lato"/>
                <a:sym typeface="Lato"/>
              </a:rPr>
              <a:t>Variance:</a:t>
            </a:r>
            <a:r>
              <a:rPr lang="en-US" sz="1500" b="0" i="0" u="none" strike="noStrike" cap="none" dirty="0">
                <a:solidFill>
                  <a:srgbClr val="475569"/>
                </a:solidFill>
                <a:latin typeface="Lato"/>
                <a:ea typeface="Lato"/>
                <a:cs typeface="Lato"/>
                <a:sym typeface="Lato"/>
              </a:rPr>
              <a:t> Our model is too "reactive." it treats even random noise as real patterns (Overfitting).</a:t>
            </a:r>
            <a:endParaRPr dirty="0"/>
          </a:p>
        </p:txBody>
      </p:sp>
      <p:sp>
        <p:nvSpPr>
          <p:cNvPr id="102" name="Google Shape;102;p14"/>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Finding the "Best" Model</a:t>
            </a:r>
            <a:endParaRPr/>
          </a:p>
        </p:txBody>
      </p:sp>
      <p:sp>
        <p:nvSpPr>
          <p:cNvPr id="103" name="Google Shape;103;p14"/>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6" name="Google Shape;126;p16"/>
          <p:cNvSpPr/>
          <p:nvPr/>
        </p:nvSpPr>
        <p:spPr>
          <a:xfrm>
            <a:off x="5715000" y="2605087"/>
            <a:ext cx="762000" cy="3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6"/>
          <p:cNvSpPr txBox="1"/>
          <p:nvPr/>
        </p:nvSpPr>
        <p:spPr>
          <a:xfrm>
            <a:off x="295275" y="2833687"/>
            <a:ext cx="11601600" cy="831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a:solidFill>
                  <a:srgbClr val="0A192F"/>
                </a:solidFill>
                <a:latin typeface="Poppins"/>
                <a:ea typeface="Poppins"/>
                <a:cs typeface="Poppins"/>
                <a:sym typeface="Poppins"/>
              </a:rPr>
              <a:t>Regression</a:t>
            </a:r>
            <a:endParaRPr sz="5400" b="1">
              <a:solidFill>
                <a:srgbClr val="0A192F"/>
              </a:solidFill>
              <a:latin typeface="Poppins"/>
              <a:ea typeface="Poppins"/>
              <a:cs typeface="Poppins"/>
              <a:sym typeface="Poppins"/>
            </a:endParaRPr>
          </a:p>
        </p:txBody>
      </p:sp>
      <p:sp>
        <p:nvSpPr>
          <p:cNvPr id="128" name="Google Shape;128;p16"/>
          <p:cNvSpPr txBox="1"/>
          <p:nvPr/>
        </p:nvSpPr>
        <p:spPr>
          <a:xfrm>
            <a:off x="2286000" y="4174987"/>
            <a:ext cx="7620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a:solidFill>
                  <a:srgbClr val="64748B"/>
                </a:solidFill>
                <a:latin typeface="Lato"/>
                <a:ea typeface="Lato"/>
                <a:cs typeface="Lato"/>
                <a:sym typeface="Lato"/>
              </a:rPr>
              <a:t>P</a:t>
            </a:r>
            <a:r>
              <a:rPr lang="en-US" sz="1800" b="0" i="0" u="none" strike="noStrike" cap="none">
                <a:solidFill>
                  <a:srgbClr val="64748B"/>
                </a:solidFill>
                <a:latin typeface="Lato"/>
                <a:ea typeface="Lato"/>
                <a:cs typeface="Lato"/>
                <a:sym typeface="Lato"/>
              </a:rPr>
              <a:t>redicting "How much?"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4" name="Google Shape;134;p17" descr="image.png"/>
          <p:cNvPicPr preferRelativeResize="0"/>
          <p:nvPr/>
        </p:nvPicPr>
        <p:blipFill rotWithShape="1">
          <a:blip r:embed="rId4">
            <a:alphaModFix/>
          </a:blip>
          <a:srcRect/>
          <a:stretch/>
        </p:blipFill>
        <p:spPr>
          <a:xfrm>
            <a:off x="6381750" y="1928812"/>
            <a:ext cx="5238750" cy="3810000"/>
          </a:xfrm>
          <a:prstGeom prst="rect">
            <a:avLst/>
          </a:prstGeom>
          <a:noFill/>
          <a:ln>
            <a:noFill/>
          </a:ln>
        </p:spPr>
      </p:pic>
      <p:sp>
        <p:nvSpPr>
          <p:cNvPr id="135" name="Google Shape;135;p17"/>
          <p:cNvSpPr txBox="1"/>
          <p:nvPr/>
        </p:nvSpPr>
        <p:spPr>
          <a:xfrm>
            <a:off x="571500" y="2033587"/>
            <a:ext cx="550068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293B"/>
                </a:solidFill>
                <a:latin typeface="Poppins"/>
                <a:ea typeface="Poppins"/>
                <a:cs typeface="Poppins"/>
                <a:sym typeface="Poppins"/>
              </a:rPr>
              <a:t>The "Best Fit" Line</a:t>
            </a:r>
            <a:endParaRPr/>
          </a:p>
        </p:txBody>
      </p:sp>
      <p:sp>
        <p:nvSpPr>
          <p:cNvPr id="136" name="Google Shape;136;p17"/>
          <p:cNvSpPr txBox="1"/>
          <p:nvPr/>
        </p:nvSpPr>
        <p:spPr>
          <a:xfrm>
            <a:off x="571500" y="2624137"/>
            <a:ext cx="523875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Used when we want to predict a continuous number (like price, height, or temperature).</a:t>
            </a:r>
            <a:endParaRPr/>
          </a:p>
        </p:txBody>
      </p:sp>
      <p:sp>
        <p:nvSpPr>
          <p:cNvPr id="137" name="Google Shape;137;p17"/>
          <p:cNvSpPr txBox="1"/>
          <p:nvPr/>
        </p:nvSpPr>
        <p:spPr>
          <a:xfrm>
            <a:off x="1000125" y="3348037"/>
            <a:ext cx="481012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Finds the line that stays closest to all points.</a:t>
            </a:r>
            <a:endParaRPr/>
          </a:p>
        </p:txBody>
      </p:sp>
      <p:sp>
        <p:nvSpPr>
          <p:cNvPr id="138" name="Google Shape;138;p17"/>
          <p:cNvSpPr txBox="1"/>
          <p:nvPr/>
        </p:nvSpPr>
        <p:spPr>
          <a:xfrm>
            <a:off x="1000125" y="3900487"/>
            <a:ext cx="481012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Easy to interpret: "For every 1 unit increase in X, Y goes up by β."</a:t>
            </a:r>
            <a:endParaRPr/>
          </a:p>
        </p:txBody>
      </p:sp>
      <p:sp>
        <p:nvSpPr>
          <p:cNvPr id="139" name="Google Shape;139;p17"/>
          <p:cNvSpPr txBox="1"/>
          <p:nvPr/>
        </p:nvSpPr>
        <p:spPr>
          <a:xfrm>
            <a:off x="1000125" y="4767262"/>
            <a:ext cx="4810200" cy="63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Example: Predicting </a:t>
            </a:r>
            <a:r>
              <a:rPr lang="en-US" sz="1650">
                <a:solidFill>
                  <a:srgbClr val="475569"/>
                </a:solidFill>
                <a:latin typeface="Lato"/>
                <a:ea typeface="Lato"/>
                <a:cs typeface="Lato"/>
                <a:sym typeface="Lato"/>
              </a:rPr>
              <a:t>Exam score based on hours studied.</a:t>
            </a:r>
            <a:endParaRPr/>
          </a:p>
        </p:txBody>
      </p:sp>
      <p:sp>
        <p:nvSpPr>
          <p:cNvPr id="140" name="Google Shape;140;p17"/>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Linear Regression: Predicting Values</a:t>
            </a:r>
            <a:endParaRPr/>
          </a:p>
        </p:txBody>
      </p:sp>
      <p:sp>
        <p:nvSpPr>
          <p:cNvPr id="141" name="Google Shape;141;p17"/>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2" name="Google Shape;142;p17"/>
          <p:cNvPicPr preferRelativeResize="0"/>
          <p:nvPr/>
        </p:nvPicPr>
        <p:blipFill>
          <a:blip r:embed="rId5">
            <a:alphaModFix/>
          </a:blip>
          <a:stretch>
            <a:fillRect/>
          </a:stretch>
        </p:blipFill>
        <p:spPr>
          <a:xfrm>
            <a:off x="6609525" y="2335771"/>
            <a:ext cx="4494052" cy="2996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8" name="Google Shape;148;p18" descr="image.png"/>
          <p:cNvPicPr preferRelativeResize="0"/>
          <p:nvPr/>
        </p:nvPicPr>
        <p:blipFill rotWithShape="1">
          <a:blip r:embed="rId4">
            <a:alphaModFix/>
          </a:blip>
          <a:srcRect/>
          <a:stretch/>
        </p:blipFill>
        <p:spPr>
          <a:xfrm>
            <a:off x="6381750" y="1928812"/>
            <a:ext cx="5238750" cy="3810000"/>
          </a:xfrm>
          <a:prstGeom prst="rect">
            <a:avLst/>
          </a:prstGeom>
          <a:noFill/>
          <a:ln>
            <a:noFill/>
          </a:ln>
        </p:spPr>
      </p:pic>
      <p:sp>
        <p:nvSpPr>
          <p:cNvPr id="149" name="Google Shape;149;p18"/>
          <p:cNvSpPr txBox="1"/>
          <p:nvPr/>
        </p:nvSpPr>
        <p:spPr>
          <a:xfrm>
            <a:off x="571500" y="2033587"/>
            <a:ext cx="5500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293B"/>
                </a:solidFill>
                <a:latin typeface="Poppins"/>
                <a:ea typeface="Poppins"/>
                <a:cs typeface="Poppins"/>
                <a:sym typeface="Poppins"/>
              </a:rPr>
              <a:t>The "Best Fit" Line</a:t>
            </a:r>
            <a:endParaRPr/>
          </a:p>
        </p:txBody>
      </p:sp>
      <p:sp>
        <p:nvSpPr>
          <p:cNvPr id="150" name="Google Shape;150;p18"/>
          <p:cNvSpPr txBox="1"/>
          <p:nvPr/>
        </p:nvSpPr>
        <p:spPr>
          <a:xfrm>
            <a:off x="571500" y="2624137"/>
            <a:ext cx="5238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Used when we want to predict a continuous number (like price, height, or temperature).</a:t>
            </a:r>
            <a:endParaRPr/>
          </a:p>
        </p:txBody>
      </p:sp>
      <p:sp>
        <p:nvSpPr>
          <p:cNvPr id="151" name="Google Shape;151;p18"/>
          <p:cNvSpPr txBox="1"/>
          <p:nvPr/>
        </p:nvSpPr>
        <p:spPr>
          <a:xfrm>
            <a:off x="1000125" y="3348037"/>
            <a:ext cx="48102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a:solidFill>
                  <a:srgbClr val="475569"/>
                </a:solidFill>
                <a:latin typeface="Lato"/>
                <a:ea typeface="Lato"/>
                <a:cs typeface="Lato"/>
                <a:sym typeface="Lato"/>
              </a:rPr>
              <a:t>Two or more Independent variables.</a:t>
            </a:r>
            <a:endParaRPr/>
          </a:p>
        </p:txBody>
      </p:sp>
      <p:sp>
        <p:nvSpPr>
          <p:cNvPr id="152" name="Google Shape;152;p18"/>
          <p:cNvSpPr txBox="1"/>
          <p:nvPr/>
        </p:nvSpPr>
        <p:spPr>
          <a:xfrm>
            <a:off x="1000125" y="3900487"/>
            <a:ext cx="48102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a:solidFill>
                  <a:srgbClr val="475569"/>
                </a:solidFill>
                <a:latin typeface="Lato"/>
                <a:ea typeface="Lato"/>
                <a:cs typeface="Lato"/>
                <a:sym typeface="Lato"/>
              </a:rPr>
              <a:t>Multicollinearity instead of collinearity.</a:t>
            </a:r>
            <a:endParaRPr/>
          </a:p>
        </p:txBody>
      </p:sp>
      <p:sp>
        <p:nvSpPr>
          <p:cNvPr id="153" name="Google Shape;153;p18"/>
          <p:cNvSpPr txBox="1"/>
          <p:nvPr/>
        </p:nvSpPr>
        <p:spPr>
          <a:xfrm>
            <a:off x="1000125" y="4767262"/>
            <a:ext cx="4810200" cy="63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Example: Predicting </a:t>
            </a:r>
            <a:r>
              <a:rPr lang="en-US" sz="1650">
                <a:solidFill>
                  <a:srgbClr val="475569"/>
                </a:solidFill>
                <a:latin typeface="Lato"/>
                <a:ea typeface="Lato"/>
                <a:cs typeface="Lato"/>
                <a:sym typeface="Lato"/>
              </a:rPr>
              <a:t>House price based on Sqft, Age and number of bedrooms.</a:t>
            </a:r>
            <a:endParaRPr/>
          </a:p>
        </p:txBody>
      </p:sp>
      <p:sp>
        <p:nvSpPr>
          <p:cNvPr id="154" name="Google Shape;154;p18"/>
          <p:cNvSpPr txBox="1"/>
          <p:nvPr/>
        </p:nvSpPr>
        <p:spPr>
          <a:xfrm>
            <a:off x="762000" y="571500"/>
            <a:ext cx="114015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Linear Regression: Predicting Values</a:t>
            </a:r>
            <a:endParaRPr/>
          </a:p>
        </p:txBody>
      </p:sp>
      <p:sp>
        <p:nvSpPr>
          <p:cNvPr id="155" name="Google Shape;155;p18"/>
          <p:cNvSpPr/>
          <p:nvPr/>
        </p:nvSpPr>
        <p:spPr>
          <a:xfrm>
            <a:off x="571500" y="571500"/>
            <a:ext cx="57300" cy="5238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18"/>
          <p:cNvPicPr preferRelativeResize="0"/>
          <p:nvPr/>
        </p:nvPicPr>
        <p:blipFill>
          <a:blip r:embed="rId5">
            <a:alphaModFix/>
          </a:blip>
          <a:stretch>
            <a:fillRect/>
          </a:stretch>
        </p:blipFill>
        <p:spPr>
          <a:xfrm>
            <a:off x="6370950" y="2250212"/>
            <a:ext cx="5238901" cy="3929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a:blip r:embed="rId3">
            <a:alphaModFix/>
          </a:blip>
          <a:stretch>
            <a:fillRect/>
          </a:stretch>
        </p:blipFill>
        <p:spPr>
          <a:xfrm>
            <a:off x="0" y="-1"/>
            <a:ext cx="121920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20"/>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571500" y="2371725"/>
            <a:ext cx="5238750" cy="2924175"/>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6381750" y="2371725"/>
            <a:ext cx="5238750" cy="2924175"/>
          </a:xfrm>
          <a:prstGeom prst="rect">
            <a:avLst/>
          </a:prstGeom>
          <a:noFill/>
          <a:ln>
            <a:noFill/>
          </a:ln>
        </p:spPr>
      </p:pic>
      <p:pic>
        <p:nvPicPr>
          <p:cNvPr id="111" name="Google Shape;111;p15" descr="image.png"/>
          <p:cNvPicPr preferRelativeResize="0"/>
          <p:nvPr/>
        </p:nvPicPr>
        <p:blipFill rotWithShape="1">
          <a:blip r:embed="rId6">
            <a:alphaModFix/>
          </a:blip>
          <a:srcRect/>
          <a:stretch/>
        </p:blipFill>
        <p:spPr>
          <a:xfrm>
            <a:off x="962025" y="4352925"/>
            <a:ext cx="4457700" cy="457200"/>
          </a:xfrm>
          <a:prstGeom prst="rect">
            <a:avLst/>
          </a:prstGeom>
          <a:noFill/>
          <a:ln>
            <a:noFill/>
          </a:ln>
        </p:spPr>
      </p:pic>
      <p:pic>
        <p:nvPicPr>
          <p:cNvPr id="112" name="Google Shape;112;p15" descr="image.png"/>
          <p:cNvPicPr preferRelativeResize="0"/>
          <p:nvPr/>
        </p:nvPicPr>
        <p:blipFill rotWithShape="1">
          <a:blip r:embed="rId7">
            <a:alphaModFix/>
          </a:blip>
          <a:srcRect/>
          <a:stretch/>
        </p:blipFill>
        <p:spPr>
          <a:xfrm>
            <a:off x="6772275" y="4352925"/>
            <a:ext cx="4457700" cy="457200"/>
          </a:xfrm>
          <a:prstGeom prst="rect">
            <a:avLst/>
          </a:prstGeom>
          <a:noFill/>
          <a:ln>
            <a:noFill/>
          </a:ln>
        </p:spPr>
      </p:pic>
      <p:sp>
        <p:nvSpPr>
          <p:cNvPr id="113" name="Google Shape;113;p15"/>
          <p:cNvSpPr txBox="1"/>
          <p:nvPr/>
        </p:nvSpPr>
        <p:spPr>
          <a:xfrm>
            <a:off x="962025" y="2762250"/>
            <a:ext cx="4680585" cy="400050"/>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Poppins"/>
                <a:ea typeface="Poppins"/>
                <a:cs typeface="Poppins"/>
                <a:sym typeface="Poppins"/>
              </a:rPr>
              <a:t>Ridge (L2)</a:t>
            </a:r>
            <a:endParaRPr/>
          </a:p>
        </p:txBody>
      </p:sp>
      <p:sp>
        <p:nvSpPr>
          <p:cNvPr id="114" name="Google Shape;114;p15"/>
          <p:cNvSpPr txBox="1"/>
          <p:nvPr/>
        </p:nvSpPr>
        <p:spPr>
          <a:xfrm>
            <a:off x="962025" y="3352800"/>
            <a:ext cx="44577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The "Balanced" approach. It keeps all your features but shrinks their importance. It prevents any single feature from dominating the result.</a:t>
            </a:r>
            <a:endParaRPr/>
          </a:p>
        </p:txBody>
      </p:sp>
      <p:sp>
        <p:nvSpPr>
          <p:cNvPr id="115" name="Google Shape;115;p15"/>
          <p:cNvSpPr txBox="1"/>
          <p:nvPr/>
        </p:nvSpPr>
        <p:spPr>
          <a:xfrm>
            <a:off x="6772275" y="2762250"/>
            <a:ext cx="4680585" cy="400050"/>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Poppins"/>
                <a:ea typeface="Poppins"/>
                <a:cs typeface="Poppins"/>
                <a:sym typeface="Poppins"/>
              </a:rPr>
              <a:t>Lasso (L1)</a:t>
            </a:r>
            <a:endParaRPr/>
          </a:p>
        </p:txBody>
      </p:sp>
      <p:sp>
        <p:nvSpPr>
          <p:cNvPr id="116" name="Google Shape;116;p15"/>
          <p:cNvSpPr txBox="1"/>
          <p:nvPr/>
        </p:nvSpPr>
        <p:spPr>
          <a:xfrm>
            <a:off x="6772275" y="3352800"/>
            <a:ext cx="44577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The "Minimalist" approach. It actively kills off useless features by setting their weights to zero. It's like an automated feature selector.</a:t>
            </a:r>
            <a:endParaRPr/>
          </a:p>
        </p:txBody>
      </p:sp>
      <p:pic>
        <p:nvPicPr>
          <p:cNvPr id="117" name="Google Shape;117;p15" descr="image.png"/>
          <p:cNvPicPr preferRelativeResize="0"/>
          <p:nvPr/>
        </p:nvPicPr>
        <p:blipFill rotWithShape="1">
          <a:blip r:embed="rId8">
            <a:alphaModFix/>
          </a:blip>
          <a:srcRect/>
          <a:stretch/>
        </p:blipFill>
        <p:spPr>
          <a:xfrm>
            <a:off x="962025" y="2819400"/>
            <a:ext cx="304800" cy="266700"/>
          </a:xfrm>
          <a:prstGeom prst="rect">
            <a:avLst/>
          </a:prstGeom>
          <a:noFill/>
          <a:ln>
            <a:noFill/>
          </a:ln>
        </p:spPr>
      </p:pic>
      <p:pic>
        <p:nvPicPr>
          <p:cNvPr id="118" name="Google Shape;118;p15" descr="image.png"/>
          <p:cNvPicPr preferRelativeResize="0"/>
          <p:nvPr/>
        </p:nvPicPr>
        <p:blipFill rotWithShape="1">
          <a:blip r:embed="rId9">
            <a:alphaModFix/>
          </a:blip>
          <a:srcRect/>
          <a:stretch/>
        </p:blipFill>
        <p:spPr>
          <a:xfrm>
            <a:off x="6772275" y="2819400"/>
            <a:ext cx="266700" cy="266700"/>
          </a:xfrm>
          <a:prstGeom prst="rect">
            <a:avLst/>
          </a:prstGeom>
          <a:noFill/>
          <a:ln>
            <a:noFill/>
          </a:ln>
        </p:spPr>
      </p:pic>
      <p:sp>
        <p:nvSpPr>
          <p:cNvPr id="119" name="Google Shape;119;p15"/>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Regularization: Simple is Better</a:t>
            </a:r>
            <a:endParaRPr/>
          </a:p>
        </p:txBody>
      </p:sp>
      <p:sp>
        <p:nvSpPr>
          <p:cNvPr id="120" name="Google Shape;120;p15"/>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
        <p:cNvGrpSpPr/>
        <p:nvPr/>
      </p:nvGrpSpPr>
      <p:grpSpPr>
        <a:xfrm>
          <a:off x="0" y="0"/>
          <a:ext cx="0" cy="0"/>
          <a:chOff x="0" y="0"/>
          <a:chExt cx="0" cy="0"/>
        </a:xfrm>
      </p:grpSpPr>
      <p:pic>
        <p:nvPicPr>
          <p:cNvPr id="171" name="Google Shape;17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2" name="Google Shape;172;p21"/>
          <p:cNvSpPr/>
          <p:nvPr/>
        </p:nvSpPr>
        <p:spPr>
          <a:xfrm>
            <a:off x="5715000" y="2605087"/>
            <a:ext cx="762000" cy="381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21"/>
          <p:cNvSpPr txBox="1"/>
          <p:nvPr/>
        </p:nvSpPr>
        <p:spPr>
          <a:xfrm>
            <a:off x="295275" y="2833687"/>
            <a:ext cx="1160145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0A192F"/>
                </a:solidFill>
                <a:latin typeface="Poppins"/>
                <a:ea typeface="Poppins"/>
                <a:cs typeface="Poppins"/>
                <a:sym typeface="Poppins"/>
              </a:rPr>
              <a:t>Classification</a:t>
            </a:r>
            <a:endParaRPr/>
          </a:p>
        </p:txBody>
      </p:sp>
      <p:sp>
        <p:nvSpPr>
          <p:cNvPr id="174" name="Google Shape;174;p21"/>
          <p:cNvSpPr txBox="1"/>
          <p:nvPr/>
        </p:nvSpPr>
        <p:spPr>
          <a:xfrm>
            <a:off x="2286000" y="4174987"/>
            <a:ext cx="7620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64748B"/>
                </a:solidFill>
                <a:latin typeface="Lato"/>
                <a:ea typeface="Lato"/>
                <a:cs typeface="Lato"/>
                <a:sym typeface="Lato"/>
              </a:rPr>
              <a:t>Moving from predicting "How much?" to predicting "Which one?"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
        <p:cNvGrpSpPr/>
        <p:nvPr/>
      </p:nvGrpSpPr>
      <p:grpSpPr>
        <a:xfrm>
          <a:off x="0" y="0"/>
          <a:ext cx="0" cy="0"/>
          <a:chOff x="0" y="0"/>
          <a:chExt cx="0" cy="0"/>
        </a:xfrm>
      </p:grpSpPr>
      <p:pic>
        <p:nvPicPr>
          <p:cNvPr id="179" name="Google Shape;17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22" descr="image.png"/>
          <p:cNvPicPr preferRelativeResize="0"/>
          <p:nvPr/>
        </p:nvPicPr>
        <p:blipFill rotWithShape="1">
          <a:blip r:embed="rId4">
            <a:alphaModFix/>
          </a:blip>
          <a:srcRect/>
          <a:stretch/>
        </p:blipFill>
        <p:spPr>
          <a:xfrm>
            <a:off x="6381750" y="1928812"/>
            <a:ext cx="5238750" cy="3810000"/>
          </a:xfrm>
          <a:prstGeom prst="rect">
            <a:avLst/>
          </a:prstGeom>
          <a:noFill/>
          <a:ln>
            <a:noFill/>
          </a:ln>
        </p:spPr>
      </p:pic>
      <p:pic>
        <p:nvPicPr>
          <p:cNvPr id="181" name="Google Shape;181;p22" descr="image.png"/>
          <p:cNvPicPr preferRelativeResize="0"/>
          <p:nvPr/>
        </p:nvPicPr>
        <p:blipFill rotWithShape="1">
          <a:blip r:embed="rId5">
            <a:alphaModFix/>
          </a:blip>
          <a:srcRect/>
          <a:stretch/>
        </p:blipFill>
        <p:spPr>
          <a:xfrm>
            <a:off x="571500" y="4894988"/>
            <a:ext cx="5238750" cy="619273"/>
          </a:xfrm>
          <a:prstGeom prst="rect">
            <a:avLst/>
          </a:prstGeom>
          <a:noFill/>
          <a:ln>
            <a:noFill/>
          </a:ln>
        </p:spPr>
      </p:pic>
      <p:sp>
        <p:nvSpPr>
          <p:cNvPr id="182" name="Google Shape;182;p22"/>
          <p:cNvSpPr txBox="1"/>
          <p:nvPr/>
        </p:nvSpPr>
        <p:spPr>
          <a:xfrm>
            <a:off x="571500" y="2443013"/>
            <a:ext cx="550068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293B"/>
                </a:solidFill>
                <a:latin typeface="Poppins"/>
                <a:ea typeface="Poppins"/>
                <a:cs typeface="Poppins"/>
                <a:sym typeface="Poppins"/>
              </a:rPr>
              <a:t>The S-Curve (Sigmoid)</a:t>
            </a:r>
            <a:endParaRPr/>
          </a:p>
        </p:txBody>
      </p:sp>
      <p:sp>
        <p:nvSpPr>
          <p:cNvPr id="183" name="Google Shape;183;p22"/>
          <p:cNvSpPr txBox="1"/>
          <p:nvPr/>
        </p:nvSpPr>
        <p:spPr>
          <a:xfrm>
            <a:off x="571500" y="3033563"/>
            <a:ext cx="5238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Instead of a straight line, we use a curve to </a:t>
            </a:r>
            <a:r>
              <a:rPr lang="en-US" sz="1500">
                <a:solidFill>
                  <a:srgbClr val="475569"/>
                </a:solidFill>
                <a:latin typeface="Lato"/>
                <a:ea typeface="Lato"/>
                <a:cs typeface="Lato"/>
                <a:sym typeface="Lato"/>
              </a:rPr>
              <a:t>make </a:t>
            </a:r>
            <a:r>
              <a:rPr lang="en-US" sz="1500" b="0" i="0" u="none" strike="noStrike" cap="none">
                <a:solidFill>
                  <a:srgbClr val="475569"/>
                </a:solidFill>
                <a:latin typeface="Lato"/>
                <a:ea typeface="Lato"/>
                <a:cs typeface="Lato"/>
                <a:sym typeface="Lato"/>
              </a:rPr>
              <a:t>all predictions range  between 0 and 1.</a:t>
            </a:r>
            <a:endParaRPr/>
          </a:p>
        </p:txBody>
      </p:sp>
      <p:sp>
        <p:nvSpPr>
          <p:cNvPr id="184" name="Google Shape;184;p22"/>
          <p:cNvSpPr txBox="1"/>
          <p:nvPr/>
        </p:nvSpPr>
        <p:spPr>
          <a:xfrm>
            <a:off x="571500" y="3795563"/>
            <a:ext cx="5238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This allows us to treat the output which c</a:t>
            </a:r>
            <a:r>
              <a:rPr lang="en-US" sz="1500" dirty="0">
                <a:solidFill>
                  <a:srgbClr val="475569"/>
                </a:solidFill>
                <a:latin typeface="Lato"/>
                <a:ea typeface="Lato"/>
                <a:cs typeface="Lato"/>
                <a:sym typeface="Lato"/>
              </a:rPr>
              <a:t>an be a classification </a:t>
            </a:r>
            <a:r>
              <a:rPr lang="en-US" sz="1500" b="0" i="0" u="none" strike="noStrike" cap="none" dirty="0">
                <a:solidFill>
                  <a:srgbClr val="475569"/>
                </a:solidFill>
                <a:latin typeface="Lato"/>
                <a:ea typeface="Lato"/>
                <a:cs typeface="Lato"/>
                <a:sym typeface="Lato"/>
              </a:rPr>
              <a:t>as a </a:t>
            </a:r>
            <a:r>
              <a:rPr lang="en-US" sz="1500" b="1" i="0" u="none" strike="noStrike" cap="none" dirty="0">
                <a:solidFill>
                  <a:srgbClr val="475569"/>
                </a:solidFill>
                <a:latin typeface="Lato"/>
                <a:ea typeface="Lato"/>
                <a:cs typeface="Lato"/>
                <a:sym typeface="Lato"/>
              </a:rPr>
              <a:t>probability</a:t>
            </a:r>
            <a:r>
              <a:rPr lang="en-US" sz="1500" b="0" i="0" u="none" strike="noStrike" cap="none" dirty="0">
                <a:solidFill>
                  <a:srgbClr val="475569"/>
                </a:solidFill>
                <a:latin typeface="Lato"/>
                <a:ea typeface="Lato"/>
                <a:cs typeface="Lato"/>
                <a:sym typeface="Lato"/>
              </a:rPr>
              <a:t>: "There is an 85% chance this email is Spam."</a:t>
            </a:r>
            <a:endParaRPr dirty="0"/>
          </a:p>
        </p:txBody>
      </p:sp>
      <p:pic>
        <p:nvPicPr>
          <p:cNvPr id="185" name="Google Shape;185;p22" descr="image.png"/>
          <p:cNvPicPr preferRelativeResize="0"/>
          <p:nvPr/>
        </p:nvPicPr>
        <p:blipFill rotWithShape="1">
          <a:blip r:embed="rId6">
            <a:alphaModFix/>
          </a:blip>
          <a:srcRect/>
          <a:stretch/>
        </p:blipFill>
        <p:spPr>
          <a:xfrm>
            <a:off x="6381750" y="1928812"/>
            <a:ext cx="5238750" cy="3810000"/>
          </a:xfrm>
          <a:prstGeom prst="rect">
            <a:avLst/>
          </a:prstGeom>
          <a:noFill/>
          <a:ln>
            <a:noFill/>
          </a:ln>
        </p:spPr>
      </p:pic>
      <p:pic>
        <p:nvPicPr>
          <p:cNvPr id="186" name="Google Shape;186;p22" descr="image.png"/>
          <p:cNvPicPr preferRelativeResize="0"/>
          <p:nvPr/>
        </p:nvPicPr>
        <p:blipFill rotWithShape="1">
          <a:blip r:embed="rId7">
            <a:alphaModFix/>
          </a:blip>
          <a:srcRect/>
          <a:stretch/>
        </p:blipFill>
        <p:spPr>
          <a:xfrm>
            <a:off x="714375" y="5037863"/>
            <a:ext cx="4953000" cy="333523"/>
          </a:xfrm>
          <a:prstGeom prst="rect">
            <a:avLst/>
          </a:prstGeom>
          <a:noFill/>
          <a:ln>
            <a:noFill/>
          </a:ln>
        </p:spPr>
      </p:pic>
      <p:sp>
        <p:nvSpPr>
          <p:cNvPr id="187" name="Google Shape;187;p22"/>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Logistic Regression: Probabilities</a:t>
            </a:r>
            <a:endParaRPr/>
          </a:p>
        </p:txBody>
      </p:sp>
      <p:sp>
        <p:nvSpPr>
          <p:cNvPr id="188" name="Google Shape;188;p22"/>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
          <a:extLst>
            <a:ext uri="{FF2B5EF4-FFF2-40B4-BE49-F238E27FC236}">
              <a16:creationId xmlns:a16="http://schemas.microsoft.com/office/drawing/2014/main" id="{13D55A93-D49D-7D11-23F6-0B51EC5685C0}"/>
            </a:ext>
          </a:extLst>
        </p:cNvPr>
        <p:cNvGrpSpPr/>
        <p:nvPr/>
      </p:nvGrpSpPr>
      <p:grpSpPr>
        <a:xfrm>
          <a:off x="0" y="0"/>
          <a:ext cx="0" cy="0"/>
          <a:chOff x="0" y="0"/>
          <a:chExt cx="0" cy="0"/>
        </a:xfrm>
      </p:grpSpPr>
      <p:pic>
        <p:nvPicPr>
          <p:cNvPr id="179" name="Google Shape;179;p22" descr="image.png">
            <a:extLst>
              <a:ext uri="{FF2B5EF4-FFF2-40B4-BE49-F238E27FC236}">
                <a16:creationId xmlns:a16="http://schemas.microsoft.com/office/drawing/2014/main" id="{9D6487B1-9F82-29D4-5115-DA04642FDFD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22" descr="image.png">
            <a:extLst>
              <a:ext uri="{FF2B5EF4-FFF2-40B4-BE49-F238E27FC236}">
                <a16:creationId xmlns:a16="http://schemas.microsoft.com/office/drawing/2014/main" id="{5A34D6D9-C9A8-84FA-3372-C8E1F816F3B2}"/>
              </a:ext>
            </a:extLst>
          </p:cNvPr>
          <p:cNvPicPr preferRelativeResize="0"/>
          <p:nvPr/>
        </p:nvPicPr>
        <p:blipFill rotWithShape="1">
          <a:blip r:embed="rId4">
            <a:alphaModFix/>
          </a:blip>
          <a:srcRect/>
          <a:stretch/>
        </p:blipFill>
        <p:spPr>
          <a:xfrm>
            <a:off x="6381750" y="1928812"/>
            <a:ext cx="5238750" cy="3810000"/>
          </a:xfrm>
          <a:prstGeom prst="rect">
            <a:avLst/>
          </a:prstGeom>
          <a:noFill/>
          <a:ln>
            <a:noFill/>
          </a:ln>
        </p:spPr>
      </p:pic>
      <p:pic>
        <p:nvPicPr>
          <p:cNvPr id="181" name="Google Shape;181;p22" descr="image.png">
            <a:extLst>
              <a:ext uri="{FF2B5EF4-FFF2-40B4-BE49-F238E27FC236}">
                <a16:creationId xmlns:a16="http://schemas.microsoft.com/office/drawing/2014/main" id="{FE388983-7E48-D556-5976-2D68ECC46CBF}"/>
              </a:ext>
            </a:extLst>
          </p:cNvPr>
          <p:cNvPicPr preferRelativeResize="0"/>
          <p:nvPr/>
        </p:nvPicPr>
        <p:blipFill rotWithShape="1">
          <a:blip r:embed="rId5">
            <a:alphaModFix/>
          </a:blip>
          <a:srcRect/>
          <a:stretch/>
        </p:blipFill>
        <p:spPr>
          <a:xfrm>
            <a:off x="571500" y="4894988"/>
            <a:ext cx="5238750" cy="619273"/>
          </a:xfrm>
          <a:prstGeom prst="rect">
            <a:avLst/>
          </a:prstGeom>
          <a:noFill/>
          <a:ln>
            <a:noFill/>
          </a:ln>
        </p:spPr>
      </p:pic>
      <p:sp>
        <p:nvSpPr>
          <p:cNvPr id="182" name="Google Shape;182;p22">
            <a:extLst>
              <a:ext uri="{FF2B5EF4-FFF2-40B4-BE49-F238E27FC236}">
                <a16:creationId xmlns:a16="http://schemas.microsoft.com/office/drawing/2014/main" id="{E73A2462-E6EB-5D8D-4C0C-C08A27753D80}"/>
              </a:ext>
            </a:extLst>
          </p:cNvPr>
          <p:cNvSpPr txBox="1"/>
          <p:nvPr/>
        </p:nvSpPr>
        <p:spPr>
          <a:xfrm>
            <a:off x="571500" y="2443013"/>
            <a:ext cx="5500687"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sz="2100" b="1" dirty="0">
                <a:solidFill>
                  <a:srgbClr val="1E293B"/>
                </a:solidFill>
                <a:latin typeface="Poppins"/>
                <a:cs typeface="Poppins"/>
                <a:sym typeface="Poppins"/>
              </a:rPr>
              <a:t>C</a:t>
            </a:r>
            <a:r>
              <a:rPr lang="en-US" sz="2100" b="1" dirty="0">
                <a:solidFill>
                  <a:srgbClr val="1E293B"/>
                </a:solidFill>
                <a:latin typeface="Poppins"/>
                <a:cs typeface="Poppins"/>
                <a:sym typeface="Poppins"/>
              </a:rPr>
              <a:t>ross Entropy Loss</a:t>
            </a:r>
            <a:endParaRPr dirty="0"/>
          </a:p>
        </p:txBody>
      </p:sp>
      <p:sp>
        <p:nvSpPr>
          <p:cNvPr id="183" name="Google Shape;183;p22">
            <a:extLst>
              <a:ext uri="{FF2B5EF4-FFF2-40B4-BE49-F238E27FC236}">
                <a16:creationId xmlns:a16="http://schemas.microsoft.com/office/drawing/2014/main" id="{BEB9988F-CCC4-A0CD-6C87-1DCA2C7A447A}"/>
              </a:ext>
            </a:extLst>
          </p:cNvPr>
          <p:cNvSpPr txBox="1"/>
          <p:nvPr/>
        </p:nvSpPr>
        <p:spPr>
          <a:xfrm>
            <a:off x="571500" y="3033563"/>
            <a:ext cx="5238900"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Instead of </a:t>
            </a:r>
            <a:r>
              <a:rPr lang="en-US" sz="1500" dirty="0">
                <a:solidFill>
                  <a:srgbClr val="475569"/>
                </a:solidFill>
                <a:latin typeface="Lato"/>
                <a:ea typeface="Lato"/>
                <a:cs typeface="Lato"/>
                <a:sym typeface="Lato"/>
              </a:rPr>
              <a:t>using MSE for instance, we use cross entropy which measures the confidence of our classification instead of the distance we’re far from the correct observed output which is irrelevant in this case.</a:t>
            </a:r>
            <a:endParaRPr dirty="0"/>
          </a:p>
        </p:txBody>
      </p:sp>
      <p:pic>
        <p:nvPicPr>
          <p:cNvPr id="185" name="Google Shape;185;p22" descr="image.png">
            <a:extLst>
              <a:ext uri="{FF2B5EF4-FFF2-40B4-BE49-F238E27FC236}">
                <a16:creationId xmlns:a16="http://schemas.microsoft.com/office/drawing/2014/main" id="{7524CC05-C8AB-9DEC-607D-85670DDE343F}"/>
              </a:ext>
            </a:extLst>
          </p:cNvPr>
          <p:cNvPicPr preferRelativeResize="0"/>
          <p:nvPr/>
        </p:nvPicPr>
        <p:blipFill rotWithShape="1">
          <a:blip r:embed="rId6">
            <a:alphaModFix/>
          </a:blip>
          <a:srcRect/>
          <a:stretch/>
        </p:blipFill>
        <p:spPr>
          <a:xfrm>
            <a:off x="6381750" y="1928812"/>
            <a:ext cx="5238750" cy="3810000"/>
          </a:xfrm>
          <a:prstGeom prst="rect">
            <a:avLst/>
          </a:prstGeom>
          <a:noFill/>
          <a:ln>
            <a:noFill/>
          </a:ln>
        </p:spPr>
      </p:pic>
      <p:sp>
        <p:nvSpPr>
          <p:cNvPr id="187" name="Google Shape;187;p22">
            <a:extLst>
              <a:ext uri="{FF2B5EF4-FFF2-40B4-BE49-F238E27FC236}">
                <a16:creationId xmlns:a16="http://schemas.microsoft.com/office/drawing/2014/main" id="{0E491C37-A042-6BE1-FB84-DF54584ECB01}"/>
              </a:ext>
            </a:extLst>
          </p:cNvPr>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Logistic Regression: Probabilities</a:t>
            </a:r>
            <a:endParaRPr/>
          </a:p>
        </p:txBody>
      </p:sp>
      <p:sp>
        <p:nvSpPr>
          <p:cNvPr id="188" name="Google Shape;188;p22">
            <a:extLst>
              <a:ext uri="{FF2B5EF4-FFF2-40B4-BE49-F238E27FC236}">
                <a16:creationId xmlns:a16="http://schemas.microsoft.com/office/drawing/2014/main" id="{A15FFF52-8967-B53A-1B3D-DCFA6A1D6AC5}"/>
              </a:ext>
            </a:extLst>
          </p:cNvPr>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FDAE4AF2-C3B8-D191-D50B-6970BD010760}"/>
              </a:ext>
            </a:extLst>
          </p:cNvPr>
          <p:cNvSpPr txBox="1"/>
          <p:nvPr/>
        </p:nvSpPr>
        <p:spPr>
          <a:xfrm>
            <a:off x="2589296" y="5096902"/>
            <a:ext cx="1203158" cy="246221"/>
          </a:xfrm>
          <a:prstGeom prst="rect">
            <a:avLst/>
          </a:prstGeom>
          <a:noFill/>
        </p:spPr>
        <p:txBody>
          <a:bodyPr wrap="square" lIns="0" tIns="0" rIns="0" bIns="0" rtlCol="0">
            <a:spAutoFit/>
          </a:bodyPr>
          <a:lstStyle/>
          <a:p>
            <a:r>
              <a:rPr lang="en-US" sz="1600" dirty="0"/>
              <a:t>CE=-log(p</a:t>
            </a:r>
            <a:r>
              <a:rPr lang="en-US" dirty="0"/>
              <a:t>)</a:t>
            </a:r>
          </a:p>
        </p:txBody>
      </p:sp>
    </p:spTree>
    <p:extLst>
      <p:ext uri="{BB962C8B-B14F-4D97-AF65-F5344CB8AC3E}">
        <p14:creationId xmlns:p14="http://schemas.microsoft.com/office/powerpoint/2010/main" val="597981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pic>
        <p:nvPicPr>
          <p:cNvPr id="193" name="Google Shape;19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4" name="Google Shape;194;p23"/>
          <p:cNvSpPr txBox="1"/>
          <p:nvPr/>
        </p:nvSpPr>
        <p:spPr>
          <a:xfrm>
            <a:off x="571500" y="2657475"/>
            <a:ext cx="110490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475569"/>
                </a:solidFill>
                <a:latin typeface="Lato"/>
                <a:ea typeface="Lato"/>
                <a:cs typeface="Lato"/>
                <a:sym typeface="Lato"/>
              </a:rPr>
              <a:t>How Logistic Regression cleans your Inbox:</a:t>
            </a:r>
            <a:endParaRPr/>
          </a:p>
        </p:txBody>
      </p:sp>
      <p:sp>
        <p:nvSpPr>
          <p:cNvPr id="195" name="Google Shape;195;p23"/>
          <p:cNvSpPr txBox="1"/>
          <p:nvPr/>
        </p:nvSpPr>
        <p:spPr>
          <a:xfrm>
            <a:off x="1000125" y="3228975"/>
            <a:ext cx="106203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475569"/>
                </a:solidFill>
                <a:latin typeface="Lato"/>
                <a:ea typeface="Lato"/>
                <a:cs typeface="Lato"/>
                <a:sym typeface="Lato"/>
              </a:rPr>
              <a:t>Feature Extraction:</a:t>
            </a:r>
            <a:r>
              <a:rPr lang="en-US" sz="1650" b="0" i="0" u="none" strike="noStrike" cap="none">
                <a:solidFill>
                  <a:srgbClr val="475569"/>
                </a:solidFill>
                <a:latin typeface="Lato"/>
                <a:ea typeface="Lato"/>
                <a:cs typeface="Lato"/>
                <a:sym typeface="Lato"/>
              </a:rPr>
              <a:t> It counts frequencies of trigger words like "FREE," "WIN," and "URGENT."</a:t>
            </a:r>
            <a:endParaRPr/>
          </a:p>
        </p:txBody>
      </p:sp>
      <p:sp>
        <p:nvSpPr>
          <p:cNvPr id="196" name="Google Shape;196;p23"/>
          <p:cNvSpPr txBox="1"/>
          <p:nvPr/>
        </p:nvSpPr>
        <p:spPr>
          <a:xfrm>
            <a:off x="1000125" y="3781425"/>
            <a:ext cx="106203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475569"/>
                </a:solidFill>
                <a:latin typeface="Lato"/>
                <a:ea typeface="Lato"/>
                <a:cs typeface="Lato"/>
                <a:sym typeface="Lato"/>
              </a:rPr>
              <a:t>Weighting:</a:t>
            </a:r>
            <a:r>
              <a:rPr lang="en-US" sz="1650" b="0" i="0" u="none" strike="noStrike" cap="none">
                <a:solidFill>
                  <a:srgbClr val="475569"/>
                </a:solidFill>
                <a:latin typeface="Lato"/>
                <a:ea typeface="Lato"/>
                <a:cs typeface="Lato"/>
                <a:sym typeface="Lato"/>
              </a:rPr>
              <a:t> The model learns that "FREE" has a high weight for Spam, while "Meeting" has a low weight.</a:t>
            </a:r>
            <a:endParaRPr/>
          </a:p>
        </p:txBody>
      </p:sp>
      <p:sp>
        <p:nvSpPr>
          <p:cNvPr id="197" name="Google Shape;197;p23"/>
          <p:cNvSpPr txBox="1"/>
          <p:nvPr/>
        </p:nvSpPr>
        <p:spPr>
          <a:xfrm>
            <a:off x="1000125" y="4333875"/>
            <a:ext cx="10620375" cy="76174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1" i="0" u="none" strike="noStrike" cap="none" dirty="0">
                <a:solidFill>
                  <a:srgbClr val="475569"/>
                </a:solidFill>
                <a:latin typeface="Lato"/>
                <a:ea typeface="Lato"/>
                <a:cs typeface="Lato"/>
                <a:sym typeface="Lato"/>
              </a:rPr>
              <a:t>Thresholding:</a:t>
            </a:r>
            <a:r>
              <a:rPr lang="en-US" sz="1650" b="0" i="0" u="none" strike="noStrike" cap="none" dirty="0">
                <a:solidFill>
                  <a:srgbClr val="475569"/>
                </a:solidFill>
                <a:latin typeface="Lato"/>
                <a:ea typeface="Lato"/>
                <a:cs typeface="Lato"/>
                <a:sym typeface="Lato"/>
              </a:rPr>
              <a:t> If the probability is &gt; 0.5, send it to the Spam folder. </a:t>
            </a:r>
            <a:r>
              <a:rPr lang="en-US" sz="1650" b="1" i="0" u="none" strike="noStrike" cap="none" dirty="0">
                <a:solidFill>
                  <a:srgbClr val="475569"/>
                </a:solidFill>
                <a:latin typeface="Lato"/>
                <a:ea typeface="Lato"/>
                <a:cs typeface="Lato"/>
                <a:sym typeface="Lato"/>
              </a:rPr>
              <a:t>You can change this threshold to be more or less strict </a:t>
            </a:r>
            <a:r>
              <a:rPr lang="en-US" sz="1650" b="0" i="0" u="none" strike="noStrike" cap="none" dirty="0">
                <a:solidFill>
                  <a:srgbClr val="475569"/>
                </a:solidFill>
                <a:latin typeface="Lato"/>
                <a:ea typeface="Lato"/>
                <a:cs typeface="Lato"/>
                <a:sym typeface="Lato"/>
              </a:rPr>
              <a:t>(we will see it in the code!)</a:t>
            </a:r>
            <a:endParaRPr dirty="0"/>
          </a:p>
        </p:txBody>
      </p:sp>
      <p:sp>
        <p:nvSpPr>
          <p:cNvPr id="198" name="Google Shape;198;p23"/>
          <p:cNvSpPr txBox="1"/>
          <p:nvPr/>
        </p:nvSpPr>
        <p:spPr>
          <a:xfrm>
            <a:off x="762000" y="571500"/>
            <a:ext cx="11401425"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a:solidFill>
                  <a:srgbClr val="0A192F"/>
                </a:solidFill>
                <a:latin typeface="Poppins"/>
                <a:ea typeface="Poppins"/>
                <a:cs typeface="Poppins"/>
                <a:sym typeface="Poppins"/>
              </a:rPr>
              <a:t>Is it Spam or </a:t>
            </a:r>
            <a:r>
              <a:rPr lang="en-US" sz="2700" b="1" dirty="0">
                <a:solidFill>
                  <a:srgbClr val="0A192F"/>
                </a:solidFill>
                <a:latin typeface="Poppins"/>
                <a:ea typeface="Poppins"/>
                <a:cs typeface="Poppins"/>
                <a:sym typeface="Poppins"/>
              </a:rPr>
              <a:t>Not</a:t>
            </a:r>
            <a:r>
              <a:rPr lang="en-US" sz="2700" b="1" i="0" u="none" strike="noStrike" cap="none" dirty="0">
                <a:solidFill>
                  <a:srgbClr val="0A192F"/>
                </a:solidFill>
                <a:latin typeface="Poppins"/>
                <a:ea typeface="Poppins"/>
                <a:cs typeface="Poppins"/>
                <a:sym typeface="Poppins"/>
              </a:rPr>
              <a:t>?</a:t>
            </a:r>
            <a:endParaRPr dirty="0"/>
          </a:p>
        </p:txBody>
      </p:sp>
      <p:sp>
        <p:nvSpPr>
          <p:cNvPr id="199" name="Google Shape;199;p23"/>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a:extLst>
            <a:ext uri="{FF2B5EF4-FFF2-40B4-BE49-F238E27FC236}">
              <a16:creationId xmlns:a16="http://schemas.microsoft.com/office/drawing/2014/main" id="{67094818-FF46-1BAD-EE9E-E53C45A2B68F}"/>
            </a:ext>
          </a:extLst>
        </p:cNvPr>
        <p:cNvGrpSpPr/>
        <p:nvPr/>
      </p:nvGrpSpPr>
      <p:grpSpPr>
        <a:xfrm>
          <a:off x="0" y="0"/>
          <a:ext cx="0" cy="0"/>
          <a:chOff x="0" y="0"/>
          <a:chExt cx="0" cy="0"/>
        </a:xfrm>
      </p:grpSpPr>
      <p:sp>
        <p:nvSpPr>
          <p:cNvPr id="198" name="Google Shape;198;p23">
            <a:extLst>
              <a:ext uri="{FF2B5EF4-FFF2-40B4-BE49-F238E27FC236}">
                <a16:creationId xmlns:a16="http://schemas.microsoft.com/office/drawing/2014/main" id="{73F7A5D0-3067-3347-42DC-7530CC465757}"/>
              </a:ext>
            </a:extLst>
          </p:cNvPr>
          <p:cNvSpPr txBox="1"/>
          <p:nvPr/>
        </p:nvSpPr>
        <p:spPr>
          <a:xfrm>
            <a:off x="762000" y="571500"/>
            <a:ext cx="11401425"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sz="2700" b="1" dirty="0" err="1">
                <a:solidFill>
                  <a:srgbClr val="0A192F"/>
                </a:solidFill>
                <a:latin typeface="Poppins"/>
                <a:cs typeface="Poppins"/>
                <a:sym typeface="Poppins"/>
              </a:rPr>
              <a:t>Nearest</a:t>
            </a:r>
            <a:r>
              <a:rPr lang="fr-FR" sz="2700" b="1" dirty="0">
                <a:solidFill>
                  <a:srgbClr val="0A192F"/>
                </a:solidFill>
                <a:latin typeface="Poppins"/>
                <a:cs typeface="Poppins"/>
                <a:sym typeface="Poppins"/>
              </a:rPr>
              <a:t> </a:t>
            </a:r>
            <a:r>
              <a:rPr lang="fr-FR" sz="2700" b="1" dirty="0" err="1">
                <a:solidFill>
                  <a:srgbClr val="0A192F"/>
                </a:solidFill>
                <a:latin typeface="Poppins"/>
                <a:cs typeface="Poppins"/>
                <a:sym typeface="Poppins"/>
              </a:rPr>
              <a:t>Neighbor</a:t>
            </a:r>
            <a:endParaRPr dirty="0"/>
          </a:p>
        </p:txBody>
      </p:sp>
      <p:sp>
        <p:nvSpPr>
          <p:cNvPr id="199" name="Google Shape;199;p23">
            <a:extLst>
              <a:ext uri="{FF2B5EF4-FFF2-40B4-BE49-F238E27FC236}">
                <a16:creationId xmlns:a16="http://schemas.microsoft.com/office/drawing/2014/main" id="{10F76127-3728-B1C0-DAB7-D37C986DEB20}"/>
              </a:ext>
            </a:extLst>
          </p:cNvPr>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26" name="Picture 2" descr="K-Nearest Neighbor (KNN) Explained | Machine Learning Archive">
            <a:extLst>
              <a:ext uri="{FF2B5EF4-FFF2-40B4-BE49-F238E27FC236}">
                <a16:creationId xmlns:a16="http://schemas.microsoft.com/office/drawing/2014/main" id="{D8974C37-9CF2-251F-5C6B-0B704FD69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044" y="1533525"/>
            <a:ext cx="8136556"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407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pic>
        <p:nvPicPr>
          <p:cNvPr id="204" name="Google Shape;204;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5" name="Google Shape;205;p24" descr="image.png"/>
          <p:cNvPicPr preferRelativeResize="0"/>
          <p:nvPr/>
        </p:nvPicPr>
        <p:blipFill rotWithShape="1">
          <a:blip r:embed="rId4">
            <a:alphaModFix/>
          </a:blip>
          <a:srcRect/>
          <a:stretch/>
        </p:blipFill>
        <p:spPr>
          <a:xfrm>
            <a:off x="571500" y="2233612"/>
            <a:ext cx="3492549" cy="3200400"/>
          </a:xfrm>
          <a:prstGeom prst="rect">
            <a:avLst/>
          </a:prstGeom>
          <a:noFill/>
          <a:ln>
            <a:noFill/>
          </a:ln>
        </p:spPr>
      </p:pic>
      <p:pic>
        <p:nvPicPr>
          <p:cNvPr id="206" name="Google Shape;206;p24" descr="image.png"/>
          <p:cNvPicPr preferRelativeResize="0"/>
          <p:nvPr/>
        </p:nvPicPr>
        <p:blipFill rotWithShape="1">
          <a:blip r:embed="rId5">
            <a:alphaModFix/>
          </a:blip>
          <a:srcRect/>
          <a:stretch/>
        </p:blipFill>
        <p:spPr>
          <a:xfrm>
            <a:off x="4349799" y="2233612"/>
            <a:ext cx="3492549" cy="3200400"/>
          </a:xfrm>
          <a:prstGeom prst="rect">
            <a:avLst/>
          </a:prstGeom>
          <a:noFill/>
          <a:ln>
            <a:noFill/>
          </a:ln>
        </p:spPr>
      </p:pic>
      <p:pic>
        <p:nvPicPr>
          <p:cNvPr id="207" name="Google Shape;207;p24" descr="image.png"/>
          <p:cNvPicPr preferRelativeResize="0"/>
          <p:nvPr/>
        </p:nvPicPr>
        <p:blipFill rotWithShape="1">
          <a:blip r:embed="rId6">
            <a:alphaModFix/>
          </a:blip>
          <a:srcRect/>
          <a:stretch/>
        </p:blipFill>
        <p:spPr>
          <a:xfrm>
            <a:off x="8128099" y="2233612"/>
            <a:ext cx="3492549" cy="3200400"/>
          </a:xfrm>
          <a:prstGeom prst="rect">
            <a:avLst/>
          </a:prstGeom>
          <a:noFill/>
          <a:ln>
            <a:noFill/>
          </a:ln>
        </p:spPr>
      </p:pic>
      <p:sp>
        <p:nvSpPr>
          <p:cNvPr id="208" name="Google Shape;208;p24"/>
          <p:cNvSpPr txBox="1"/>
          <p:nvPr/>
        </p:nvSpPr>
        <p:spPr>
          <a:xfrm>
            <a:off x="794225" y="3262312"/>
            <a:ext cx="304709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293B"/>
                </a:solidFill>
                <a:latin typeface="Poppins"/>
                <a:ea typeface="Poppins"/>
                <a:cs typeface="Poppins"/>
                <a:sym typeface="Poppins"/>
              </a:rPr>
              <a:t>Similarity</a:t>
            </a:r>
            <a:endParaRPr/>
          </a:p>
        </p:txBody>
      </p:sp>
      <p:sp>
        <p:nvSpPr>
          <p:cNvPr id="209" name="Google Shape;209;p24"/>
          <p:cNvSpPr txBox="1"/>
          <p:nvPr/>
        </p:nvSpPr>
        <p:spPr>
          <a:xfrm>
            <a:off x="866775" y="3852862"/>
            <a:ext cx="2901999" cy="1143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"Tell me who your friends are, and I'll tell you who you are." Data points of the same class tend to cluster together.</a:t>
            </a:r>
            <a:endParaRPr/>
          </a:p>
        </p:txBody>
      </p:sp>
      <p:sp>
        <p:nvSpPr>
          <p:cNvPr id="210" name="Google Shape;210;p24"/>
          <p:cNvSpPr txBox="1"/>
          <p:nvPr/>
        </p:nvSpPr>
        <p:spPr>
          <a:xfrm>
            <a:off x="4572524" y="3262312"/>
            <a:ext cx="304709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293B"/>
                </a:solidFill>
                <a:latin typeface="Poppins"/>
                <a:ea typeface="Poppins"/>
                <a:cs typeface="Poppins"/>
                <a:sym typeface="Poppins"/>
              </a:rPr>
              <a:t>The "Vote"</a:t>
            </a:r>
            <a:endParaRPr/>
          </a:p>
        </p:txBody>
      </p:sp>
      <p:sp>
        <p:nvSpPr>
          <p:cNvPr id="211" name="Google Shape;211;p24"/>
          <p:cNvSpPr txBox="1"/>
          <p:nvPr/>
        </p:nvSpPr>
        <p:spPr>
          <a:xfrm>
            <a:off x="4645074" y="3852862"/>
            <a:ext cx="2901999" cy="8572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Pick a number </a:t>
            </a:r>
            <a:r>
              <a:rPr lang="en-US" sz="1500" b="0" i="1" u="none" strike="noStrike" cap="none" dirty="0">
                <a:solidFill>
                  <a:srgbClr val="475569"/>
                </a:solidFill>
                <a:latin typeface="Lato"/>
                <a:ea typeface="Lato"/>
                <a:cs typeface="Lato"/>
                <a:sym typeface="Lato"/>
              </a:rPr>
              <a:t>K</a:t>
            </a:r>
            <a:r>
              <a:rPr lang="en-US" sz="1500" b="0" i="0" u="none" strike="noStrike" cap="none" dirty="0">
                <a:solidFill>
                  <a:srgbClr val="475569"/>
                </a:solidFill>
                <a:latin typeface="Lato"/>
                <a:ea typeface="Lato"/>
                <a:cs typeface="Lato"/>
                <a:sym typeface="Lato"/>
              </a:rPr>
              <a:t>. Look at the </a:t>
            </a:r>
            <a:r>
              <a:rPr lang="en-US" sz="1500" b="0" i="1" u="none" strike="noStrike" cap="none" dirty="0">
                <a:solidFill>
                  <a:srgbClr val="475569"/>
                </a:solidFill>
                <a:latin typeface="Lato"/>
                <a:ea typeface="Lato"/>
                <a:cs typeface="Lato"/>
                <a:sym typeface="Lato"/>
              </a:rPr>
              <a:t>K</a:t>
            </a:r>
            <a:r>
              <a:rPr lang="en-US" sz="1500" b="0" i="0" u="none" strike="noStrike" cap="none" dirty="0">
                <a:solidFill>
                  <a:srgbClr val="475569"/>
                </a:solidFill>
                <a:latin typeface="Lato"/>
                <a:ea typeface="Lato"/>
                <a:cs typeface="Lato"/>
                <a:sym typeface="Lato"/>
              </a:rPr>
              <a:t> closest neighbors. The majority class wins the prediction.</a:t>
            </a:r>
            <a:endParaRPr dirty="0"/>
          </a:p>
        </p:txBody>
      </p:sp>
      <p:sp>
        <p:nvSpPr>
          <p:cNvPr id="212" name="Google Shape;212;p24"/>
          <p:cNvSpPr txBox="1"/>
          <p:nvPr/>
        </p:nvSpPr>
        <p:spPr>
          <a:xfrm>
            <a:off x="8350824" y="3262312"/>
            <a:ext cx="304709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293B"/>
                </a:solidFill>
                <a:latin typeface="Poppins"/>
                <a:ea typeface="Poppins"/>
                <a:cs typeface="Poppins"/>
                <a:sym typeface="Poppins"/>
              </a:rPr>
              <a:t>No Training</a:t>
            </a:r>
            <a:endParaRPr/>
          </a:p>
        </p:txBody>
      </p:sp>
      <p:sp>
        <p:nvSpPr>
          <p:cNvPr id="213" name="Google Shape;213;p24"/>
          <p:cNvSpPr txBox="1"/>
          <p:nvPr/>
        </p:nvSpPr>
        <p:spPr>
          <a:xfrm>
            <a:off x="8423374" y="3852862"/>
            <a:ext cx="2901999" cy="1143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475569"/>
                </a:solidFill>
                <a:latin typeface="Lato"/>
                <a:ea typeface="Lato"/>
                <a:cs typeface="Lato"/>
                <a:sym typeface="Lato"/>
              </a:rPr>
              <a:t>K-NN is "lazy." It doesn't learn a formula; it just remembers all the data and searches through it when asked.</a:t>
            </a:r>
            <a:endParaRPr/>
          </a:p>
        </p:txBody>
      </p:sp>
      <p:pic>
        <p:nvPicPr>
          <p:cNvPr id="214" name="Google Shape;214;p24" descr="image.png"/>
          <p:cNvPicPr preferRelativeResize="0"/>
          <p:nvPr/>
        </p:nvPicPr>
        <p:blipFill rotWithShape="1">
          <a:blip r:embed="rId7">
            <a:alphaModFix/>
          </a:blip>
          <a:srcRect/>
          <a:stretch/>
        </p:blipFill>
        <p:spPr>
          <a:xfrm>
            <a:off x="2031950" y="2576512"/>
            <a:ext cx="571500" cy="457200"/>
          </a:xfrm>
          <a:prstGeom prst="rect">
            <a:avLst/>
          </a:prstGeom>
          <a:noFill/>
          <a:ln>
            <a:noFill/>
          </a:ln>
        </p:spPr>
      </p:pic>
      <p:pic>
        <p:nvPicPr>
          <p:cNvPr id="215" name="Google Shape;215;p24" descr="image.png"/>
          <p:cNvPicPr preferRelativeResize="0"/>
          <p:nvPr/>
        </p:nvPicPr>
        <p:blipFill rotWithShape="1">
          <a:blip r:embed="rId8">
            <a:alphaModFix/>
          </a:blip>
          <a:srcRect/>
          <a:stretch/>
        </p:blipFill>
        <p:spPr>
          <a:xfrm>
            <a:off x="5838825" y="2576512"/>
            <a:ext cx="514350" cy="457200"/>
          </a:xfrm>
          <a:prstGeom prst="rect">
            <a:avLst/>
          </a:prstGeom>
          <a:noFill/>
          <a:ln>
            <a:noFill/>
          </a:ln>
        </p:spPr>
      </p:pic>
      <p:pic>
        <p:nvPicPr>
          <p:cNvPr id="216" name="Google Shape;216;p24" descr="image.png"/>
          <p:cNvPicPr preferRelativeResize="0"/>
          <p:nvPr/>
        </p:nvPicPr>
        <p:blipFill rotWithShape="1">
          <a:blip r:embed="rId9">
            <a:alphaModFix/>
          </a:blip>
          <a:srcRect/>
          <a:stretch/>
        </p:blipFill>
        <p:spPr>
          <a:xfrm>
            <a:off x="9674274" y="2576512"/>
            <a:ext cx="400050" cy="457200"/>
          </a:xfrm>
          <a:prstGeom prst="rect">
            <a:avLst/>
          </a:prstGeom>
          <a:noFill/>
          <a:ln>
            <a:noFill/>
          </a:ln>
        </p:spPr>
      </p:pic>
      <p:sp>
        <p:nvSpPr>
          <p:cNvPr id="217" name="Google Shape;217;p24"/>
          <p:cNvSpPr txBox="1"/>
          <p:nvPr/>
        </p:nvSpPr>
        <p:spPr>
          <a:xfrm>
            <a:off x="762000" y="571500"/>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A192F"/>
                </a:solidFill>
                <a:latin typeface="Poppins"/>
                <a:ea typeface="Poppins"/>
                <a:cs typeface="Poppins"/>
                <a:sym typeface="Poppins"/>
              </a:rPr>
              <a:t>K-Nearest Neighbors (K-NN)</a:t>
            </a:r>
            <a:endParaRPr/>
          </a:p>
        </p:txBody>
      </p:sp>
      <p:sp>
        <p:nvSpPr>
          <p:cNvPr id="218" name="Google Shape;218;p24"/>
          <p:cNvSpPr/>
          <p:nvPr/>
        </p:nvSpPr>
        <p:spPr>
          <a:xfrm>
            <a:off x="571500" y="571500"/>
            <a:ext cx="57150" cy="523875"/>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838</Words>
  <Application>Microsoft Office PowerPoint</Application>
  <PresentationFormat>Widescreen</PresentationFormat>
  <Paragraphs>65</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Lato</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mouad zemzoumi</cp:lastModifiedBy>
  <cp:revision>11</cp:revision>
  <dcterms:modified xsi:type="dcterms:W3CDTF">2026-03-04T00:23:11Z</dcterms:modified>
</cp:coreProperties>
</file>