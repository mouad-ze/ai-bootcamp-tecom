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74" r:id="rId3"/>
    <p:sldId id="270" r:id="rId4"/>
    <p:sldId id="258" r:id="rId5"/>
    <p:sldId id="271" r:id="rId6"/>
    <p:sldId id="272" r:id="rId7"/>
    <p:sldId id="259" r:id="rId8"/>
    <p:sldId id="260" r:id="rId9"/>
    <p:sldId id="261" r:id="rId10"/>
    <p:sldId id="275" r:id="rId11"/>
    <p:sldId id="262" r:id="rId12"/>
    <p:sldId id="263" r:id="rId13"/>
    <p:sldId id="264" r:id="rId14"/>
    <p:sldId id="279" r:id="rId15"/>
    <p:sldId id="273" r:id="rId16"/>
    <p:sldId id="278" r:id="rId17"/>
    <p:sldId id="276" r:id="rId18"/>
    <p:sldId id="277" r:id="rId19"/>
    <p:sldId id="265" r:id="rId20"/>
    <p:sldId id="266" r:id="rId21"/>
    <p:sldId id="267" r:id="rId22"/>
  </p:sldIdLst>
  <p:sldSz cx="12192000" cy="6858000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Urbanist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Accuracy</a:t>
            </a:r>
            <a:r>
              <a:rPr lang="fr-FR" dirty="0"/>
              <a:t>= Correct/All </a:t>
            </a:r>
            <a:r>
              <a:rPr lang="fr-FR" dirty="0" err="1"/>
              <a:t>Predictions</a:t>
            </a:r>
            <a:endParaRPr lang="fr-FR" dirty="0"/>
          </a:p>
          <a:p>
            <a:r>
              <a:rPr lang="fr-FR" dirty="0" err="1"/>
              <a:t>Precision</a:t>
            </a:r>
            <a:r>
              <a:rPr lang="fr-FR" dirty="0"/>
              <a:t>= </a:t>
            </a:r>
            <a:r>
              <a:rPr lang="fr-FR" dirty="0" err="1"/>
              <a:t>True</a:t>
            </a:r>
            <a:r>
              <a:rPr lang="fr-FR" dirty="0"/>
              <a:t> Positives/All Positives</a:t>
            </a:r>
          </a:p>
          <a:p>
            <a:r>
              <a:rPr lang="fr-FR" dirty="0" err="1"/>
              <a:t>Recall</a:t>
            </a:r>
            <a:r>
              <a:rPr lang="fr-FR" dirty="0"/>
              <a:t>= </a:t>
            </a:r>
            <a:r>
              <a:rPr lang="fr-FR" dirty="0" err="1"/>
              <a:t>True</a:t>
            </a:r>
            <a:r>
              <a:rPr lang="fr-FR" dirty="0"/>
              <a:t> Positives/ </a:t>
            </a:r>
            <a:r>
              <a:rPr lang="fr-FR" dirty="0" err="1"/>
              <a:t>True</a:t>
            </a:r>
            <a:r>
              <a:rPr lang="fr-FR" dirty="0"/>
              <a:t> Positives+ False </a:t>
            </a:r>
            <a:r>
              <a:rPr lang="fr-FR" dirty="0" err="1"/>
              <a:t>Negatives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5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Science Foundations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1733550"/>
            <a:ext cx="952500" cy="571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29000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Class</a:t>
            </a:r>
            <a:r>
              <a:rPr lang="en-US" sz="320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2: Exploration, Preprocessing &amp; Evaluation</a:t>
            </a:r>
            <a:endParaRPr sz="32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9052" y="5868948"/>
            <a:ext cx="1217294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Ai Bootcamp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17D4B-1AEE-0DFD-5136-1A3E6EF4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Infographic Data Visualisation Statistics Charts Design | Premium AI ...">
            <a:extLst>
              <a:ext uri="{FF2B5EF4-FFF2-40B4-BE49-F238E27FC236}">
                <a16:creationId xmlns:a16="http://schemas.microsoft.com/office/drawing/2014/main" id="{77728E58-8A84-42A5-840E-71A184534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972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B1CA18-C41F-0D40-820E-D1314BA22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1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135683"/>
            <a:ext cx="5334000" cy="3520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KNOW YOUR DATA TYPES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364283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Numerical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Numbers you can calculate.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812083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Categorical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Labels or groups.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154733"/>
            <a:ext cx="5295900" cy="348198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19150" y="29357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29357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Continuous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180.5 cm, 25.4°C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19150" y="32786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32786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Discrete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4 children, 10 cars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19150" y="43835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43835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Nominal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Gender, Eye color (No order)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19150" y="4726483"/>
            <a:ext cx="133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726483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Ordinal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Grades (A, B, C), Satisfaction levels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54A3A-2971-1693-0DF3-CE5B09AE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EE7CE-D92D-48BE-9C61-A41AD959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3300" y="1504950"/>
            <a:ext cx="4267200" cy="5350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640080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52740"/>
            <a:ext cx="6400800" cy="248007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STORAGE FORMATS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1400" y="1123950"/>
            <a:ext cx="4229100" cy="53125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1704975"/>
            <a:ext cx="63007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CSV (Comma Separated)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2162175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"Shopping List" format. Simple rows and columns.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4575571"/>
            <a:ext cx="63007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JSON (Key-Value)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71525" y="5032771"/>
            <a:ext cx="600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"Filing Cabinet" format. Hierarchical and flexible.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6475"/>
            <a:ext cx="53340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PANDAS "DATAFRAME"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2886075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DataFrame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is the 2D table that exists in your computer's memory while you code.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0125" y="3800475"/>
            <a:ext cx="4524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"activates" a CSV so you can: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Filter rows instantly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Calculate averages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• Merge multiple files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E93A9C-9E8E-F23C-32C5-AD151B33B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711903"/>
            <a:ext cx="5525099" cy="1948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200275"/>
            <a:ext cx="53340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ESSENTIAL TOOLBOX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4288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1. Pandas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Your table manager.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30003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2. NumPy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engine for fast math.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571875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3. Scikit-learn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ML Brain.</a:t>
            </a:r>
            <a:endParaRPr dirty="0"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219325"/>
            <a:ext cx="52959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urvivorship Bias In Financial Resilience – Dragos Roua">
            <a:extLst>
              <a:ext uri="{FF2B5EF4-FFF2-40B4-BE49-F238E27FC236}">
                <a16:creationId xmlns:a16="http://schemas.microsoft.com/office/drawing/2014/main" id="{957CAFE4-38B5-B912-BC6E-02A2A1201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05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622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5622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81525"/>
            <a:ext cx="53340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81525"/>
            <a:ext cx="53340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EXPLORATION (EDA)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18002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Before modeling, we must </a:t>
            </a: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look at the data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to find: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8962" y="2762250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48176" y="32861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Missing Values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71525" y="36195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there gaps (</a:t>
            </a:r>
            <a:r>
              <a:rPr lang="en-US" sz="120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NaN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 in the rows?</a:t>
            </a:r>
            <a:endParaRPr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9675" y="27622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363176" y="32861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Distributions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86525" y="36195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Is the data balanced or skewed?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14675" y="47815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648176" y="53054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Outliers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71525" y="56388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Are there impossible values (Age: 999)?</a:t>
            </a:r>
            <a:endParaRPr dirty="0"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72525" y="478155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6363176" y="53054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Correlations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486525" y="563880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 two columns move together?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EDA: CODING Example</a:t>
            </a:r>
            <a:endParaRPr dirty="0"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DCE40C-CBE2-FC54-006D-7DD2F8446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0" y="1674472"/>
            <a:ext cx="9942325" cy="3509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PREPROCESSING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Data Preprocessing in Data Mining - GeeksforGeeks">
            <a:extLst>
              <a:ext uri="{FF2B5EF4-FFF2-40B4-BE49-F238E27FC236}">
                <a16:creationId xmlns:a16="http://schemas.microsoft.com/office/drawing/2014/main" id="{35C49C5A-0D66-C076-411C-EEB55E10B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943" y="1543049"/>
            <a:ext cx="7062519" cy="495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eature engineering in machine learning - ISmile Technologies">
            <a:extLst>
              <a:ext uri="{FF2B5EF4-FFF2-40B4-BE49-F238E27FC236}">
                <a16:creationId xmlns:a16="http://schemas.microsoft.com/office/drawing/2014/main" id="{06CBF8ED-4A83-B681-F93E-D01F374DE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65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9D452-0DF2-4140-F55A-FD1AED8C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A8FA9B-FE02-467E-8D12-A628DCAA2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6A60D-2834-72EE-A87D-BFABF667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95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33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D7F5-3F5D-56D5-F92F-830C9F92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A Beginner’s Guide To Confusion Matrix: Machine Learning 101">
            <a:extLst>
              <a:ext uri="{FF2B5EF4-FFF2-40B4-BE49-F238E27FC236}">
                <a16:creationId xmlns:a16="http://schemas.microsoft.com/office/drawing/2014/main" id="{49CA853E-2C02-8F82-94C8-189CDFCB5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57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8F0070-9CC3-C467-3C5E-797A18991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33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D0704-B8F3-6DCC-95F2-E90A23CB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2"/>
            <a:ext cx="12192000" cy="688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05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3200"/>
            <a:ext cx="5334000" cy="3245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BIAS VS VARIANCE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292250"/>
            <a:ext cx="5295900" cy="3206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6286500" y="2501800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Bias (Underfitting)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model is too simple. It misses the target entirely.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286500" y="3473350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Variance (Overfitting)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The model is too complex. It memorizes noise but fails on new data.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286500" y="444490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Goal: The Sweet Spot in the middle!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9991" y="2871787"/>
            <a:ext cx="53340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4: EVALUATION</a:t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1478378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How do we know if we succeeded? </a:t>
            </a:r>
            <a:r>
              <a:rPr lang="en-US" sz="1800" b="1" i="0" u="none" strike="noStrike" cap="none" dirty="0">
                <a:solidFill>
                  <a:srgbClr val="2DD4BF"/>
                </a:solidFill>
                <a:latin typeface="Lato"/>
                <a:ea typeface="Lato"/>
                <a:cs typeface="Lato"/>
                <a:sym typeface="Lato"/>
              </a:rPr>
              <a:t>The Golden Rule: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Never test on data the model has already seen.</a:t>
            </a:r>
            <a:endParaRPr dirty="0"/>
          </a:p>
        </p:txBody>
      </p:sp>
      <p:sp>
        <p:nvSpPr>
          <p:cNvPr id="221" name="Google Shape;221;p23"/>
          <p:cNvSpPr txBox="1"/>
          <p:nvPr/>
        </p:nvSpPr>
        <p:spPr>
          <a:xfrm>
            <a:off x="4494962" y="3050002"/>
            <a:ext cx="51806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The 80/20 Split</a:t>
            </a:r>
            <a:endParaRPr dirty="0"/>
          </a:p>
        </p:txBody>
      </p:sp>
      <p:sp>
        <p:nvSpPr>
          <p:cNvPr id="222" name="Google Shape;222;p23"/>
          <p:cNvSpPr txBox="1"/>
          <p:nvPr/>
        </p:nvSpPr>
        <p:spPr>
          <a:xfrm>
            <a:off x="4494962" y="3543919"/>
            <a:ext cx="4933950" cy="469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80% of data for Training.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20% for Testing.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0FC845-36DF-760D-CF15-A5BBE827D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33" y="5035284"/>
            <a:ext cx="9377916" cy="11511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372915"/>
            <a:ext cx="5334000" cy="304561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K-FOLD CROSS VALIDATION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571500" y="571500"/>
            <a:ext cx="76200" cy="5524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2601515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Don't just test once! Split your data into 5 or 10 "folds."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351591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Rotate the testing set so every piece of data gets a chance to be the "judge."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4277915"/>
            <a:ext cx="533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prevents getting a "lucky" split and gives a more honest performance score.</a:t>
            </a:r>
            <a:endParaRPr/>
          </a:p>
        </p:txBody>
      </p:sp>
      <p:pic>
        <p:nvPicPr>
          <p:cNvPr id="233" name="Google Shape;23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391965"/>
            <a:ext cx="5295900" cy="3007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414</Words>
  <Application>Microsoft Office PowerPoint</Application>
  <PresentationFormat>Widescreen</PresentationFormat>
  <Paragraphs>53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Lato</vt:lpstr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mouad zemzoumi</cp:lastModifiedBy>
  <cp:revision>9</cp:revision>
  <dcterms:modified xsi:type="dcterms:W3CDTF">2026-02-23T15:03:47Z</dcterms:modified>
</cp:coreProperties>
</file>