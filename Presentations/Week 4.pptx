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  <p:sldId id="271" r:id="rId16"/>
    <p:sldId id="272" r:id="rId17"/>
  </p:sldIdLst>
  <p:sldSz cx="12192000" cy="6858000"/>
  <p:notesSz cx="6858000" cy="9144000"/>
  <p:embeddedFontLst>
    <p:embeddedFont>
      <p:font typeface="Cambria Math" panose="02040503050406030204" pitchFamily="18" charset="0"/>
      <p:regular r:id="rId19"/>
    </p:embeddedFont>
    <p:embeddedFont>
      <p:font typeface="Inter" panose="020B0604020202020204" charset="0"/>
      <p:regular r:id="rId20"/>
      <p:bold r:id="rId21"/>
      <p:italic r:id="rId22"/>
      <p:boldItalic r:id="rId23"/>
    </p:embeddedFont>
    <p:embeddedFont>
      <p:font typeface="Space Grotesk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758" autoAdjust="0"/>
  </p:normalViewPr>
  <p:slideViewPr>
    <p:cSldViewPr snapToGrid="0">
      <p:cViewPr varScale="1">
        <p:scale>
          <a:sx n="39" d="100"/>
          <a:sy n="39" d="100"/>
        </p:scale>
        <p:origin x="60" y="3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-29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0190b64d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fr-FR" dirty="0"/>
              <a:t>It s good in the </a:t>
            </a:r>
            <a:r>
              <a:rPr lang="fr-FR" dirty="0" err="1"/>
              <a:t>sense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don t </a:t>
            </a:r>
            <a:r>
              <a:rPr lang="fr-FR" dirty="0" err="1"/>
              <a:t>need</a:t>
            </a:r>
            <a:r>
              <a:rPr lang="fr-FR" dirty="0"/>
              <a:t> to train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parameters</a:t>
            </a:r>
            <a:r>
              <a:rPr lang="fr-FR" dirty="0"/>
              <a:t> like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case for </a:t>
            </a:r>
            <a:r>
              <a:rPr lang="fr-FR" dirty="0" err="1"/>
              <a:t>logistic</a:t>
            </a:r>
            <a:r>
              <a:rPr lang="fr-FR" dirty="0"/>
              <a:t> </a:t>
            </a:r>
            <a:r>
              <a:rPr lang="fr-FR" dirty="0" err="1"/>
              <a:t>regression</a:t>
            </a:r>
            <a:r>
              <a:rPr lang="fr-FR" dirty="0"/>
              <a:t> for instance (Alpha </a:t>
            </a:r>
            <a:r>
              <a:rPr lang="fr-FR" dirty="0" err="1"/>
              <a:t>lr</a:t>
            </a:r>
            <a:r>
              <a:rPr lang="fr-FR" dirty="0"/>
              <a:t> for gd).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fr-FR" dirty="0"/>
              <a:t>There are </a:t>
            </a:r>
            <a:r>
              <a:rPr lang="fr-FR" dirty="0" err="1"/>
              <a:t>two</a:t>
            </a:r>
            <a:r>
              <a:rPr lang="fr-FR" dirty="0"/>
              <a:t> instances of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algorithm</a:t>
            </a:r>
            <a:r>
              <a:rPr lang="fr-FR" dirty="0"/>
              <a:t> one for classification (SVC) and one for </a:t>
            </a:r>
            <a:r>
              <a:rPr lang="fr-FR" dirty="0" err="1"/>
              <a:t>regression</a:t>
            </a:r>
            <a:r>
              <a:rPr lang="fr-FR" dirty="0"/>
              <a:t> (SVR).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fr-FR" dirty="0" err="1"/>
              <a:t>They</a:t>
            </a:r>
            <a:r>
              <a:rPr lang="fr-FR" dirty="0"/>
              <a:t> have </a:t>
            </a:r>
            <a:r>
              <a:rPr lang="fr-FR" dirty="0" err="1"/>
              <a:t>oposite</a:t>
            </a:r>
            <a:r>
              <a:rPr lang="fr-FR" dirty="0"/>
              <a:t> goals </a:t>
            </a:r>
            <a:r>
              <a:rPr lang="fr-FR" dirty="0" err="1"/>
              <a:t>Svr</a:t>
            </a:r>
            <a:r>
              <a:rPr lang="fr-FR" dirty="0"/>
              <a:t> </a:t>
            </a:r>
            <a:r>
              <a:rPr lang="fr-FR" dirty="0" err="1"/>
              <a:t>wants</a:t>
            </a:r>
            <a:r>
              <a:rPr lang="fr-FR" dirty="0"/>
              <a:t> to fit points </a:t>
            </a:r>
            <a:r>
              <a:rPr lang="fr-FR" dirty="0" err="1"/>
              <a:t>inside</a:t>
            </a:r>
            <a:r>
              <a:rPr lang="fr-FR" dirty="0"/>
              <a:t> the </a:t>
            </a:r>
            <a:r>
              <a:rPr lang="fr-FR" dirty="0" err="1"/>
              <a:t>margin</a:t>
            </a:r>
            <a:r>
              <a:rPr lang="fr-FR" dirty="0"/>
              <a:t> </a:t>
            </a:r>
            <a:r>
              <a:rPr lang="fr-FR" dirty="0" err="1"/>
              <a:t>while</a:t>
            </a:r>
            <a:r>
              <a:rPr lang="fr-FR" dirty="0"/>
              <a:t> </a:t>
            </a:r>
            <a:r>
              <a:rPr lang="fr-FR" dirty="0" err="1"/>
              <a:t>Svc</a:t>
            </a:r>
            <a:r>
              <a:rPr lang="fr-FR" dirty="0"/>
              <a:t> </a:t>
            </a:r>
            <a:r>
              <a:rPr lang="fr-FR" dirty="0" err="1"/>
              <a:t>wants</a:t>
            </a:r>
            <a:r>
              <a:rPr lang="fr-FR" dirty="0"/>
              <a:t> to </a:t>
            </a:r>
            <a:r>
              <a:rPr lang="fr-FR" dirty="0" err="1"/>
              <a:t>keep</a:t>
            </a:r>
            <a:r>
              <a:rPr lang="fr-FR" dirty="0"/>
              <a:t> </a:t>
            </a:r>
            <a:r>
              <a:rPr lang="fr-FR" dirty="0" err="1"/>
              <a:t>them</a:t>
            </a:r>
            <a:r>
              <a:rPr lang="fr-FR" dirty="0"/>
              <a:t> </a:t>
            </a:r>
            <a:r>
              <a:rPr lang="fr-FR" dirty="0" err="1"/>
              <a:t>away</a:t>
            </a:r>
            <a:r>
              <a:rPr lang="fr-FR" dirty="0"/>
              <a:t> and </a:t>
            </a:r>
            <a:r>
              <a:rPr lang="fr-FR" dirty="0" err="1"/>
              <a:t>minimize</a:t>
            </a:r>
            <a:r>
              <a:rPr lang="fr-FR" dirty="0"/>
              <a:t> the </a:t>
            </a:r>
            <a:r>
              <a:rPr lang="fr-FR" dirty="0" err="1"/>
              <a:t>outliers</a:t>
            </a:r>
            <a:r>
              <a:rPr lang="fr-FR" dirty="0"/>
              <a:t> in a sort of </a:t>
            </a:r>
            <a:r>
              <a:rPr lang="fr-FR" dirty="0" err="1"/>
              <a:t>way</a:t>
            </a:r>
            <a:r>
              <a:rPr lang="fr-FR" dirty="0"/>
              <a:t>.</a:t>
            </a:r>
            <a:endParaRPr dirty="0"/>
          </a:p>
        </p:txBody>
      </p:sp>
      <p:sp>
        <p:nvSpPr>
          <p:cNvPr id="97" name="Google Shape;97;g3d0190b64d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fr-FR" dirty="0"/>
              <a:t>(</a:t>
            </a:r>
            <a:r>
              <a:rPr lang="fr-FR" dirty="0" err="1"/>
              <a:t>ab+r</a:t>
            </a:r>
            <a:r>
              <a:rPr lang="fr-FR" dirty="0"/>
              <a:t>)^d (Setting r=0 </a:t>
            </a:r>
            <a:r>
              <a:rPr lang="fr-FR" dirty="0" err="1"/>
              <a:t>leaves</a:t>
            </a:r>
            <a:r>
              <a:rPr lang="fr-FR" dirty="0"/>
              <a:t> the data </a:t>
            </a:r>
            <a:r>
              <a:rPr lang="fr-FR" dirty="0" err="1"/>
              <a:t>always</a:t>
            </a:r>
            <a:r>
              <a:rPr lang="fr-FR" dirty="0"/>
              <a:t> in the </a:t>
            </a:r>
            <a:r>
              <a:rPr lang="fr-FR" dirty="0" err="1"/>
              <a:t>same</a:t>
            </a:r>
            <a:r>
              <a:rPr lang="fr-FR" dirty="0"/>
              <a:t> direction).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fr-FR" dirty="0"/>
              <a:t>e-g(a-b)^2 g </a:t>
            </a:r>
            <a:r>
              <a:rPr lang="fr-FR" dirty="0" err="1"/>
              <a:t>is</a:t>
            </a:r>
            <a:r>
              <a:rPr lang="fr-FR" dirty="0"/>
              <a:t> Gamma.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They</a:t>
            </a:r>
            <a:r>
              <a:rPr lang="fr-FR" dirty="0"/>
              <a:t> are </a:t>
            </a:r>
            <a:r>
              <a:rPr lang="fr-FR" dirty="0" err="1"/>
              <a:t>used</a:t>
            </a:r>
            <a:r>
              <a:rPr lang="fr-FR" dirty="0"/>
              <a:t> for </a:t>
            </a:r>
            <a:r>
              <a:rPr lang="fr-FR" dirty="0" err="1"/>
              <a:t>both</a:t>
            </a:r>
            <a:r>
              <a:rPr lang="fr-FR" dirty="0"/>
              <a:t> </a:t>
            </a:r>
            <a:r>
              <a:rPr lang="fr-FR" dirty="0" err="1"/>
              <a:t>svc</a:t>
            </a:r>
            <a:r>
              <a:rPr lang="fr-FR" dirty="0"/>
              <a:t> and </a:t>
            </a:r>
            <a:r>
              <a:rPr lang="fr-FR" dirty="0" err="1"/>
              <a:t>svr</a:t>
            </a:r>
            <a:r>
              <a:rPr lang="fr-FR" dirty="0"/>
              <a:t>, </a:t>
            </a:r>
            <a:r>
              <a:rPr lang="fr-FR" dirty="0" err="1"/>
              <a:t>Gaussian</a:t>
            </a:r>
            <a:r>
              <a:rPr lang="fr-FR" dirty="0"/>
              <a:t> kernel can </a:t>
            </a:r>
            <a:r>
              <a:rPr lang="fr-FR" dirty="0" err="1"/>
              <a:t>represent</a:t>
            </a:r>
            <a:r>
              <a:rPr lang="fr-FR" dirty="0"/>
              <a:t> </a:t>
            </a:r>
            <a:r>
              <a:rPr lang="fr-FR" dirty="0" err="1"/>
              <a:t>infinite</a:t>
            </a:r>
            <a:r>
              <a:rPr lang="fr-FR" dirty="0"/>
              <a:t> dimensions (</a:t>
            </a:r>
            <a:r>
              <a:rPr lang="fr-FR" dirty="0" err="1"/>
              <a:t>Taylor’s</a:t>
            </a:r>
            <a:r>
              <a:rPr lang="fr-FR" dirty="0"/>
              <a:t> expansion for Maths </a:t>
            </a:r>
            <a:r>
              <a:rPr lang="fr-FR" dirty="0" err="1"/>
              <a:t>interested</a:t>
            </a:r>
            <a:r>
              <a:rPr lang="fr-FR" dirty="0"/>
              <a:t> people).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endParaRPr dirty="0"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They</a:t>
            </a:r>
            <a:r>
              <a:rPr lang="fr-FR" dirty="0"/>
              <a:t> are non </a:t>
            </a:r>
            <a:r>
              <a:rPr lang="fr-FR" dirty="0" err="1"/>
              <a:t>parametric</a:t>
            </a:r>
            <a:r>
              <a:rPr lang="fr-FR" dirty="0"/>
              <a:t> </a:t>
            </a:r>
            <a:r>
              <a:rPr lang="fr-FR" dirty="0" err="1"/>
              <a:t>models</a:t>
            </a:r>
            <a:r>
              <a:rPr lang="fr-FR" dirty="0"/>
              <a:t>, for </a:t>
            </a:r>
            <a:r>
              <a:rPr lang="fr-FR" dirty="0" err="1"/>
              <a:t>decision</a:t>
            </a:r>
            <a:r>
              <a:rPr lang="fr-FR" dirty="0"/>
              <a:t> </a:t>
            </a:r>
            <a:r>
              <a:rPr lang="fr-FR" dirty="0" err="1"/>
              <a:t>regression</a:t>
            </a:r>
            <a:r>
              <a:rPr lang="fr-FR" dirty="0"/>
              <a:t> </a:t>
            </a:r>
            <a:r>
              <a:rPr lang="fr-FR" dirty="0" err="1"/>
              <a:t>trees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adjust</a:t>
            </a:r>
            <a:r>
              <a:rPr lang="fr-FR" dirty="0"/>
              <a:t> the partitions </a:t>
            </a:r>
            <a:r>
              <a:rPr lang="fr-FR" dirty="0" err="1"/>
              <a:t>instead</a:t>
            </a:r>
            <a:r>
              <a:rPr lang="fr-FR" dirty="0"/>
              <a:t> of Gradient </a:t>
            </a:r>
            <a:r>
              <a:rPr lang="fr-FR" dirty="0" err="1"/>
              <a:t>descent</a:t>
            </a:r>
            <a:r>
              <a:rPr lang="fr-FR" dirty="0"/>
              <a:t> </a:t>
            </a:r>
            <a:r>
              <a:rPr lang="fr-FR" dirty="0" err="1"/>
              <a:t>since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have no </a:t>
            </a:r>
            <a:r>
              <a:rPr lang="fr-FR" dirty="0" err="1"/>
              <a:t>weights</a:t>
            </a:r>
            <a:r>
              <a:rPr lang="fr-FR" dirty="0"/>
              <a:t> to </a:t>
            </a:r>
            <a:r>
              <a:rPr lang="fr-FR" dirty="0" err="1"/>
              <a:t>adjust</a:t>
            </a:r>
            <a:r>
              <a:rPr lang="fr-FR" dirty="0"/>
              <a:t>.</a:t>
            </a:r>
            <a:endParaRPr dirty="0"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55110426-AEDA-3681-CAE9-18C5F5FA9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>
            <a:extLst>
              <a:ext uri="{FF2B5EF4-FFF2-40B4-BE49-F238E27FC236}">
                <a16:creationId xmlns:a16="http://schemas.microsoft.com/office/drawing/2014/main" id="{DD1370B3-01D9-13D8-7EEB-4E466F923D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7:notes">
            <a:extLst>
              <a:ext uri="{FF2B5EF4-FFF2-40B4-BE49-F238E27FC236}">
                <a16:creationId xmlns:a16="http://schemas.microsoft.com/office/drawing/2014/main" id="{9916765B-EFCA-5BBB-B070-F294C5E1C0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69587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fr-FR" dirty="0"/>
              <a:t>If </a:t>
            </a:r>
            <a:r>
              <a:rPr lang="fr-FR" dirty="0" err="1"/>
              <a:t>we</a:t>
            </a:r>
            <a:r>
              <a:rPr lang="fr-FR" dirty="0"/>
              <a:t> don t </a:t>
            </a:r>
            <a:r>
              <a:rPr lang="fr-FR" dirty="0" err="1"/>
              <a:t>limit</a:t>
            </a:r>
            <a:r>
              <a:rPr lang="fr-FR" dirty="0"/>
              <a:t> the </a:t>
            </a:r>
            <a:r>
              <a:rPr lang="fr-FR" dirty="0" err="1"/>
              <a:t>growing</a:t>
            </a:r>
            <a:r>
              <a:rPr lang="fr-FR" dirty="0"/>
              <a:t> of the </a:t>
            </a:r>
            <a:r>
              <a:rPr lang="fr-FR" dirty="0" err="1"/>
              <a:t>tree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grow</a:t>
            </a:r>
            <a:r>
              <a:rPr lang="fr-FR" dirty="0"/>
              <a:t> to have a </a:t>
            </a:r>
            <a:r>
              <a:rPr lang="fr-FR" dirty="0" err="1"/>
              <a:t>branch</a:t>
            </a:r>
            <a:r>
              <a:rPr lang="fr-FR" dirty="0"/>
              <a:t> for </a:t>
            </a:r>
            <a:r>
              <a:rPr lang="fr-FR" dirty="0" err="1"/>
              <a:t>each</a:t>
            </a:r>
            <a:r>
              <a:rPr lang="fr-FR" dirty="0"/>
              <a:t> data point (</a:t>
            </a:r>
            <a:r>
              <a:rPr lang="fr-FR" dirty="0" err="1"/>
              <a:t>extreme</a:t>
            </a:r>
            <a:r>
              <a:rPr lang="fr-FR" dirty="0"/>
              <a:t> </a:t>
            </a:r>
            <a:r>
              <a:rPr lang="fr-FR" dirty="0" err="1"/>
              <a:t>overfitting</a:t>
            </a:r>
            <a:r>
              <a:rPr lang="fr-FR" dirty="0"/>
              <a:t>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fr-FR" dirty="0" err="1"/>
              <a:t>We</a:t>
            </a:r>
            <a:r>
              <a:rPr lang="fr-FR" dirty="0"/>
              <a:t> can have </a:t>
            </a:r>
            <a:r>
              <a:rPr lang="fr-FR" dirty="0" err="1"/>
              <a:t>pre-pruning</a:t>
            </a:r>
            <a:r>
              <a:rPr lang="fr-FR" dirty="0"/>
              <a:t> by </a:t>
            </a:r>
            <a:r>
              <a:rPr lang="fr-FR" dirty="0" err="1"/>
              <a:t>having</a:t>
            </a:r>
            <a:r>
              <a:rPr lang="fr-FR" dirty="0"/>
              <a:t> a </a:t>
            </a:r>
            <a:r>
              <a:rPr lang="fr-FR" dirty="0" err="1"/>
              <a:t>setted</a:t>
            </a:r>
            <a:r>
              <a:rPr lang="fr-FR" dirty="0"/>
              <a:t> </a:t>
            </a:r>
            <a:r>
              <a:rPr lang="fr-FR" dirty="0" err="1"/>
              <a:t>limit</a:t>
            </a:r>
            <a:r>
              <a:rPr lang="fr-FR" dirty="0"/>
              <a:t> for the maximum </a:t>
            </a:r>
            <a:r>
              <a:rPr lang="fr-FR" dirty="0" err="1"/>
              <a:t>depth</a:t>
            </a:r>
            <a:r>
              <a:rPr lang="fr-FR" dirty="0"/>
              <a:t> or a minimum </a:t>
            </a:r>
            <a:r>
              <a:rPr lang="fr-FR" dirty="0" err="1"/>
              <a:t>impurity</a:t>
            </a:r>
            <a:r>
              <a:rPr lang="fr-FR" dirty="0"/>
              <a:t> </a:t>
            </a:r>
            <a:r>
              <a:rPr lang="fr-FR" dirty="0" err="1"/>
              <a:t>decrease</a:t>
            </a:r>
            <a:r>
              <a:rPr lang="fr-FR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fr-FR" dirty="0"/>
              <a:t>Post-</a:t>
            </a:r>
            <a:r>
              <a:rPr lang="fr-FR" dirty="0" err="1"/>
              <a:t>pruning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use </a:t>
            </a:r>
            <a:r>
              <a:rPr lang="fr-FR" dirty="0" err="1"/>
              <a:t>cost</a:t>
            </a:r>
            <a:r>
              <a:rPr lang="fr-FR" dirty="0"/>
              <a:t> </a:t>
            </a:r>
            <a:r>
              <a:rPr lang="fr-FR" dirty="0" err="1"/>
              <a:t>complexity</a:t>
            </a:r>
            <a:r>
              <a:rPr lang="fr-FR" dirty="0"/>
              <a:t> </a:t>
            </a:r>
            <a:r>
              <a:rPr lang="fr-FR" dirty="0" err="1"/>
              <a:t>pruning</a:t>
            </a:r>
            <a:r>
              <a:rPr lang="fr-FR" dirty="0"/>
              <a:t> </a:t>
            </a:r>
            <a:r>
              <a:rPr lang="fr-FR" dirty="0" err="1"/>
              <a:t>meaning</a:t>
            </a:r>
            <a:r>
              <a:rPr lang="fr-FR" dirty="0"/>
              <a:t> if the </a:t>
            </a:r>
            <a:r>
              <a:rPr lang="fr-FR" dirty="0" err="1"/>
              <a:t>error</a:t>
            </a:r>
            <a:r>
              <a:rPr lang="fr-FR" dirty="0"/>
              <a:t> </a:t>
            </a:r>
            <a:r>
              <a:rPr lang="fr-FR" dirty="0" err="1"/>
              <a:t>reduction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small</a:t>
            </a:r>
            <a:r>
              <a:rPr lang="fr-FR" dirty="0"/>
              <a:t> but the </a:t>
            </a:r>
            <a:r>
              <a:rPr lang="fr-FR" dirty="0" err="1"/>
              <a:t>number</a:t>
            </a:r>
            <a:r>
              <a:rPr lang="fr-FR" dirty="0"/>
              <a:t> of </a:t>
            </a:r>
            <a:r>
              <a:rPr lang="fr-FR" dirty="0" err="1"/>
              <a:t>leaves</a:t>
            </a:r>
            <a:r>
              <a:rPr lang="fr-FR" dirty="0"/>
              <a:t> </a:t>
            </a:r>
            <a:r>
              <a:rPr lang="fr-FR" dirty="0" err="1"/>
              <a:t>resulting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big </a:t>
            </a:r>
            <a:r>
              <a:rPr lang="fr-FR" dirty="0" err="1"/>
              <a:t>we</a:t>
            </a:r>
            <a:r>
              <a:rPr lang="fr-FR" dirty="0"/>
              <a:t> have to prune (high score).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fr-FR" dirty="0" err="1"/>
              <a:t>Bootstrapping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dirty="0" err="1"/>
              <a:t>method</a:t>
            </a:r>
            <a:r>
              <a:rPr lang="fr-FR" dirty="0"/>
              <a:t> by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select </a:t>
            </a:r>
            <a:r>
              <a:rPr lang="fr-FR" dirty="0" err="1"/>
              <a:t>each</a:t>
            </a:r>
            <a:r>
              <a:rPr lang="fr-FR" dirty="0"/>
              <a:t> team </a:t>
            </a:r>
            <a:r>
              <a:rPr lang="fr-FR" dirty="0" err="1"/>
              <a:t>randomly</a:t>
            </a:r>
            <a:r>
              <a:rPr lang="fr-FR" dirty="0"/>
              <a:t> points </a:t>
            </a:r>
            <a:r>
              <a:rPr lang="fr-FR" dirty="0" err="1"/>
              <a:t>from</a:t>
            </a:r>
            <a:r>
              <a:rPr lang="fr-FR" dirty="0"/>
              <a:t> the original data to </a:t>
            </a:r>
            <a:r>
              <a:rPr lang="fr-FR" dirty="0" err="1"/>
              <a:t>form</a:t>
            </a:r>
            <a:r>
              <a:rPr lang="fr-FR" dirty="0"/>
              <a:t> a </a:t>
            </a:r>
            <a:r>
              <a:rPr lang="fr-FR" dirty="0" err="1"/>
              <a:t>subset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replacement </a:t>
            </a:r>
            <a:r>
              <a:rPr lang="fr-FR" dirty="0" err="1"/>
              <a:t>meaning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can have </a:t>
            </a:r>
            <a:r>
              <a:rPr lang="fr-FR" dirty="0" err="1"/>
              <a:t>repetition</a:t>
            </a:r>
            <a:r>
              <a:rPr lang="fr-FR" dirty="0"/>
              <a:t> of points (</a:t>
            </a:r>
            <a:r>
              <a:rPr lang="fr-FR" dirty="0" err="1"/>
              <a:t>Trees</a:t>
            </a:r>
            <a:r>
              <a:rPr lang="fr-FR" dirty="0"/>
              <a:t> are </a:t>
            </a:r>
            <a:r>
              <a:rPr lang="fr-FR" dirty="0" err="1"/>
              <a:t>growing</a:t>
            </a:r>
            <a:r>
              <a:rPr lang="fr-FR" dirty="0"/>
              <a:t> </a:t>
            </a:r>
            <a:r>
              <a:rPr lang="fr-FR" dirty="0" err="1"/>
              <a:t>independantly</a:t>
            </a:r>
            <a:r>
              <a:rPr lang="fr-FR" dirty="0"/>
              <a:t>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fr-FR" dirty="0"/>
              <a:t>For Bagging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take</a:t>
            </a:r>
            <a:r>
              <a:rPr lang="fr-FR" dirty="0"/>
              <a:t> all the </a:t>
            </a:r>
            <a:r>
              <a:rPr lang="fr-FR" dirty="0" err="1"/>
              <a:t>trees</a:t>
            </a:r>
            <a:r>
              <a:rPr lang="fr-FR" dirty="0"/>
              <a:t> and not </a:t>
            </a:r>
            <a:r>
              <a:rPr lang="fr-FR" dirty="0" err="1"/>
              <a:t>only</a:t>
            </a:r>
            <a:r>
              <a:rPr lang="fr-FR" dirty="0"/>
              <a:t> select the best </a:t>
            </a:r>
            <a:r>
              <a:rPr lang="fr-FR" dirty="0" err="1"/>
              <a:t>performing</a:t>
            </a:r>
            <a:r>
              <a:rPr lang="fr-FR" dirty="0"/>
              <a:t> </a:t>
            </a:r>
            <a:r>
              <a:rPr lang="fr-FR" dirty="0" err="1"/>
              <a:t>ones</a:t>
            </a:r>
            <a:r>
              <a:rPr lang="fr-FR" dirty="0"/>
              <a:t> </a:t>
            </a:r>
            <a:r>
              <a:rPr lang="fr-FR" dirty="0" err="1"/>
              <a:t>because</a:t>
            </a:r>
            <a:r>
              <a:rPr lang="fr-FR" dirty="0"/>
              <a:t> if </a:t>
            </a:r>
            <a:r>
              <a:rPr lang="fr-FR" dirty="0" err="1"/>
              <a:t>we</a:t>
            </a:r>
            <a:r>
              <a:rPr lang="fr-FR" dirty="0"/>
              <a:t> do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lead to the </a:t>
            </a:r>
            <a:r>
              <a:rPr lang="fr-FR" dirty="0" err="1"/>
              <a:t>trees</a:t>
            </a:r>
            <a:r>
              <a:rPr lang="fr-FR" dirty="0"/>
              <a:t> </a:t>
            </a:r>
            <a:r>
              <a:rPr lang="fr-FR" dirty="0" err="1"/>
              <a:t>being</a:t>
            </a:r>
            <a:r>
              <a:rPr lang="fr-FR" dirty="0"/>
              <a:t> all </a:t>
            </a:r>
            <a:r>
              <a:rPr lang="fr-FR" dirty="0" err="1"/>
              <a:t>similar</a:t>
            </a:r>
            <a:r>
              <a:rPr lang="fr-FR" dirty="0"/>
              <a:t> to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other</a:t>
            </a:r>
            <a:r>
              <a:rPr lang="fr-FR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fr-FR" dirty="0"/>
              <a:t>For </a:t>
            </a:r>
            <a:r>
              <a:rPr lang="fr-FR" dirty="0" err="1"/>
              <a:t>prediction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take</a:t>
            </a:r>
            <a:r>
              <a:rPr lang="fr-FR" dirty="0"/>
              <a:t> the </a:t>
            </a:r>
            <a:r>
              <a:rPr lang="fr-FR" dirty="0" err="1"/>
              <a:t>average</a:t>
            </a:r>
            <a:r>
              <a:rPr lang="fr-FR" dirty="0"/>
              <a:t> of the </a:t>
            </a:r>
            <a:r>
              <a:rPr lang="fr-FR" dirty="0" err="1"/>
              <a:t>average</a:t>
            </a:r>
            <a:r>
              <a:rPr lang="fr-FR" dirty="0"/>
              <a:t> </a:t>
            </a:r>
            <a:r>
              <a:rPr lang="fr-FR" dirty="0" err="1"/>
              <a:t>prediction</a:t>
            </a:r>
            <a:r>
              <a:rPr lang="fr-FR" dirty="0"/>
              <a:t> of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tree</a:t>
            </a:r>
            <a:r>
              <a:rPr lang="fr-FR" dirty="0"/>
              <a:t> and for classification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take</a:t>
            </a:r>
            <a:r>
              <a:rPr lang="fr-FR" dirty="0"/>
              <a:t> the </a:t>
            </a:r>
            <a:r>
              <a:rPr lang="fr-FR" dirty="0" err="1"/>
              <a:t>majority</a:t>
            </a:r>
            <a:r>
              <a:rPr lang="fr-FR" dirty="0"/>
              <a:t> class </a:t>
            </a:r>
            <a:r>
              <a:rPr lang="fr-FR" dirty="0" err="1"/>
              <a:t>voted</a:t>
            </a:r>
            <a:r>
              <a:rPr lang="fr-FR" dirty="0"/>
              <a:t> by the </a:t>
            </a:r>
            <a:r>
              <a:rPr lang="fr-FR" dirty="0" err="1"/>
              <a:t>trees</a:t>
            </a:r>
            <a:r>
              <a:rPr lang="fr-FR" dirty="0"/>
              <a:t> for a </a:t>
            </a:r>
            <a:r>
              <a:rPr lang="fr-FR" dirty="0" err="1"/>
              <a:t>given</a:t>
            </a:r>
            <a:r>
              <a:rPr lang="fr-FR" dirty="0"/>
              <a:t> point.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fr-FR" dirty="0"/>
              <a:t>Rf </a:t>
            </a:r>
            <a:r>
              <a:rPr lang="fr-FR" dirty="0" err="1"/>
              <a:t>doesn’t</a:t>
            </a:r>
            <a:r>
              <a:rPr lang="fr-FR" dirty="0"/>
              <a:t> </a:t>
            </a:r>
            <a:r>
              <a:rPr lang="fr-FR" dirty="0" err="1"/>
              <a:t>randomly</a:t>
            </a:r>
            <a:r>
              <a:rPr lang="fr-FR" dirty="0"/>
              <a:t> select data points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just</a:t>
            </a:r>
            <a:r>
              <a:rPr lang="fr-FR" dirty="0"/>
              <a:t> </a:t>
            </a:r>
            <a:r>
              <a:rPr lang="fr-FR" dirty="0" err="1"/>
              <a:t>randomly</a:t>
            </a:r>
            <a:r>
              <a:rPr lang="fr-FR" dirty="0"/>
              <a:t> selects a </a:t>
            </a:r>
            <a:r>
              <a:rPr lang="fr-FR" dirty="0" err="1"/>
              <a:t>subset</a:t>
            </a:r>
            <a:r>
              <a:rPr lang="fr-FR" dirty="0"/>
              <a:t> of </a:t>
            </a:r>
            <a:r>
              <a:rPr lang="fr-FR" dirty="0" err="1"/>
              <a:t>features</a:t>
            </a:r>
            <a:r>
              <a:rPr lang="fr-FR" dirty="0"/>
              <a:t> for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tree</a:t>
            </a:r>
            <a:r>
              <a:rPr lang="fr-FR" dirty="0"/>
              <a:t>. (No </a:t>
            </a:r>
            <a:r>
              <a:rPr lang="fr-FR" dirty="0" err="1"/>
              <a:t>pruning</a:t>
            </a:r>
            <a:r>
              <a:rPr lang="fr-FR" dirty="0"/>
              <a:t>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fr-FR" dirty="0" err="1"/>
              <a:t>Boosting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slower</a:t>
            </a:r>
            <a:r>
              <a:rPr lang="fr-FR" dirty="0"/>
              <a:t> as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done</a:t>
            </a:r>
            <a:r>
              <a:rPr lang="fr-FR" dirty="0"/>
              <a:t> </a:t>
            </a:r>
            <a:r>
              <a:rPr lang="fr-FR" dirty="0" err="1"/>
              <a:t>sequentially</a:t>
            </a:r>
            <a:r>
              <a:rPr lang="fr-FR" dirty="0"/>
              <a:t> </a:t>
            </a:r>
            <a:r>
              <a:rPr lang="fr-FR" dirty="0" err="1"/>
              <a:t>while</a:t>
            </a:r>
            <a:r>
              <a:rPr lang="fr-FR" dirty="0"/>
              <a:t> Bagging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faster</a:t>
            </a:r>
            <a:r>
              <a:rPr lang="fr-FR" dirty="0"/>
              <a:t> as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done</a:t>
            </a:r>
            <a:r>
              <a:rPr lang="fr-FR" dirty="0"/>
              <a:t> </a:t>
            </a:r>
            <a:r>
              <a:rPr lang="fr-FR" dirty="0" err="1"/>
              <a:t>parallelaly</a:t>
            </a:r>
            <a:r>
              <a:rPr lang="fr-FR" dirty="0"/>
              <a:t>,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more sensitive to </a:t>
            </a:r>
            <a:r>
              <a:rPr lang="fr-FR" dirty="0" err="1"/>
              <a:t>outliers</a:t>
            </a:r>
            <a:r>
              <a:rPr lang="fr-FR" dirty="0"/>
              <a:t> in </a:t>
            </a:r>
            <a:r>
              <a:rPr lang="fr-FR" dirty="0" err="1"/>
              <a:t>comparison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Bagging.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fr-FR" dirty="0"/>
              <a:t>For </a:t>
            </a:r>
            <a:r>
              <a:rPr lang="fr-FR" dirty="0" err="1"/>
              <a:t>Boosting</a:t>
            </a:r>
            <a:r>
              <a:rPr lang="fr-FR" dirty="0"/>
              <a:t> </a:t>
            </a:r>
            <a:r>
              <a:rPr lang="fr-FR" dirty="0" err="1"/>
              <a:t>each</a:t>
            </a:r>
            <a:r>
              <a:rPr lang="fr-FR" dirty="0"/>
              <a:t> new </a:t>
            </a:r>
            <a:r>
              <a:rPr lang="fr-FR" dirty="0" err="1"/>
              <a:t>tree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just</a:t>
            </a:r>
            <a:r>
              <a:rPr lang="fr-FR" dirty="0"/>
              <a:t> an </a:t>
            </a:r>
            <a:r>
              <a:rPr lang="fr-FR" dirty="0" err="1"/>
              <a:t>improvement</a:t>
            </a:r>
            <a:r>
              <a:rPr lang="fr-FR" dirty="0"/>
              <a:t> of the </a:t>
            </a:r>
            <a:r>
              <a:rPr lang="fr-FR" dirty="0" err="1"/>
              <a:t>previous</a:t>
            </a:r>
            <a:r>
              <a:rPr lang="fr-FR" dirty="0"/>
              <a:t> one.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fr-FR" dirty="0" err="1"/>
              <a:t>Adaboost</a:t>
            </a:r>
            <a:r>
              <a:rPr lang="fr-FR" dirty="0"/>
              <a:t> </a:t>
            </a:r>
            <a:r>
              <a:rPr lang="fr-FR" dirty="0" err="1"/>
              <a:t>assigns</a:t>
            </a:r>
            <a:r>
              <a:rPr lang="fr-FR" dirty="0"/>
              <a:t> </a:t>
            </a:r>
            <a:r>
              <a:rPr lang="fr-FR" dirty="0" err="1"/>
              <a:t>sample</a:t>
            </a:r>
            <a:r>
              <a:rPr lang="fr-FR" dirty="0"/>
              <a:t> </a:t>
            </a:r>
            <a:r>
              <a:rPr lang="fr-FR" dirty="0" err="1"/>
              <a:t>weights</a:t>
            </a:r>
            <a:r>
              <a:rPr lang="fr-FR" dirty="0"/>
              <a:t> for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misclassification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gives</a:t>
            </a:r>
            <a:r>
              <a:rPr lang="fr-FR" dirty="0"/>
              <a:t> a </a:t>
            </a:r>
            <a:r>
              <a:rPr lang="fr-FR" dirty="0" err="1"/>
              <a:t>higher</a:t>
            </a:r>
            <a:r>
              <a:rPr lang="fr-FR" dirty="0"/>
              <a:t> </a:t>
            </a:r>
            <a:r>
              <a:rPr lang="fr-FR" dirty="0" err="1"/>
              <a:t>weight</a:t>
            </a:r>
            <a:r>
              <a:rPr lang="fr-FR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fr-FR" dirty="0"/>
              <a:t>Gradient </a:t>
            </a:r>
            <a:r>
              <a:rPr lang="fr-FR" dirty="0" err="1"/>
              <a:t>Boosting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trained</a:t>
            </a:r>
            <a:r>
              <a:rPr lang="fr-FR" dirty="0"/>
              <a:t> to fit to </a:t>
            </a:r>
            <a:r>
              <a:rPr lang="fr-FR" dirty="0" err="1"/>
              <a:t>errors</a:t>
            </a:r>
            <a:r>
              <a:rPr lang="fr-FR" dirty="0"/>
              <a:t> of </a:t>
            </a:r>
            <a:r>
              <a:rPr lang="fr-FR" dirty="0" err="1"/>
              <a:t>previous</a:t>
            </a:r>
            <a:r>
              <a:rPr lang="fr-FR" dirty="0"/>
              <a:t> </a:t>
            </a:r>
            <a:r>
              <a:rPr lang="fr-FR" dirty="0" err="1"/>
              <a:t>trees</a:t>
            </a:r>
            <a:r>
              <a:rPr lang="fr-FR" dirty="0"/>
              <a:t>.</a:t>
            </a:r>
            <a:endParaRPr dirty="0"/>
          </a:p>
        </p:txBody>
      </p:sp>
      <p:sp>
        <p:nvSpPr>
          <p:cNvPr id="219" name="Google Shape;2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91259EE0-A4E8-4F07-D7DC-080782B0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>
            <a:extLst>
              <a:ext uri="{FF2B5EF4-FFF2-40B4-BE49-F238E27FC236}">
                <a16:creationId xmlns:a16="http://schemas.microsoft.com/office/drawing/2014/main" id="{6D3556F2-233D-551E-1993-CC81D46D97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6" name="Google Shape;196;p9:notes">
            <a:extLst>
              <a:ext uri="{FF2B5EF4-FFF2-40B4-BE49-F238E27FC236}">
                <a16:creationId xmlns:a16="http://schemas.microsoft.com/office/drawing/2014/main" id="{BDE60E0E-41DF-FB41-788F-FDE8B12583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04989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39F202D0-1377-10CD-F502-2DD548BB3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>
            <a:extLst>
              <a:ext uri="{FF2B5EF4-FFF2-40B4-BE49-F238E27FC236}">
                <a16:creationId xmlns:a16="http://schemas.microsoft.com/office/drawing/2014/main" id="{BC79748C-D1A8-D0CC-7B3B-586D0C6037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6" name="Google Shape;196;p9:notes">
            <a:extLst>
              <a:ext uri="{FF2B5EF4-FFF2-40B4-BE49-F238E27FC236}">
                <a16:creationId xmlns:a16="http://schemas.microsoft.com/office/drawing/2014/main" id="{0ED1C892-73B5-4882-6590-66EC8A5718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59201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48A4397C-89AC-E927-0A03-C33E7806A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>
            <a:extLst>
              <a:ext uri="{FF2B5EF4-FFF2-40B4-BE49-F238E27FC236}">
                <a16:creationId xmlns:a16="http://schemas.microsoft.com/office/drawing/2014/main" id="{B2F00FE1-538A-89F3-F9D5-09F5FB28FC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fr-FR" dirty="0" err="1"/>
              <a:t>Stacking</a:t>
            </a:r>
            <a:r>
              <a:rPr lang="fr-FR" dirty="0"/>
              <a:t> </a:t>
            </a:r>
            <a:r>
              <a:rPr lang="fr-FR" dirty="0" err="1"/>
              <a:t>means</a:t>
            </a:r>
            <a:r>
              <a:rPr lang="fr-FR" dirty="0"/>
              <a:t> </a:t>
            </a:r>
            <a:r>
              <a:rPr lang="fr-FR" dirty="0" err="1"/>
              <a:t>basically</a:t>
            </a:r>
            <a:r>
              <a:rPr lang="fr-FR" dirty="0"/>
              <a:t> a more </a:t>
            </a:r>
            <a:r>
              <a:rPr lang="fr-FR" dirty="0" err="1"/>
              <a:t>generalized</a:t>
            </a:r>
            <a:r>
              <a:rPr lang="fr-FR" dirty="0"/>
              <a:t> version of ensemble </a:t>
            </a:r>
            <a:r>
              <a:rPr lang="fr-FR" dirty="0" err="1"/>
              <a:t>methods</a:t>
            </a:r>
            <a:r>
              <a:rPr lang="fr-FR" dirty="0"/>
              <a:t> as ensemble </a:t>
            </a:r>
            <a:r>
              <a:rPr lang="fr-FR" dirty="0" err="1"/>
              <a:t>methods</a:t>
            </a:r>
            <a:r>
              <a:rPr lang="fr-FR" dirty="0"/>
              <a:t> are a </a:t>
            </a:r>
            <a:r>
              <a:rPr lang="fr-FR" dirty="0" err="1"/>
              <a:t>grouping</a:t>
            </a:r>
            <a:r>
              <a:rPr lang="fr-FR" dirty="0"/>
              <a:t> of </a:t>
            </a:r>
            <a:r>
              <a:rPr lang="fr-FR" dirty="0" err="1"/>
              <a:t>decision</a:t>
            </a:r>
            <a:r>
              <a:rPr lang="fr-FR" dirty="0"/>
              <a:t> </a:t>
            </a:r>
            <a:r>
              <a:rPr lang="fr-FR" dirty="0" err="1"/>
              <a:t>trees</a:t>
            </a:r>
            <a:r>
              <a:rPr lang="fr-FR" dirty="0"/>
              <a:t>, </a:t>
            </a:r>
            <a:r>
              <a:rPr lang="fr-FR" dirty="0" err="1"/>
              <a:t>stacking</a:t>
            </a:r>
            <a:r>
              <a:rPr lang="fr-FR" dirty="0"/>
              <a:t> can have an ensemble of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algorithms</a:t>
            </a:r>
            <a:r>
              <a:rPr lang="fr-FR" dirty="0"/>
              <a:t> </a:t>
            </a:r>
            <a:r>
              <a:rPr lang="fr-FR" dirty="0" err="1"/>
              <a:t>such</a:t>
            </a:r>
            <a:r>
              <a:rPr lang="fr-FR" dirty="0"/>
              <a:t> as </a:t>
            </a:r>
            <a:r>
              <a:rPr lang="fr-FR" dirty="0" err="1"/>
              <a:t>Svm</a:t>
            </a:r>
            <a:r>
              <a:rPr lang="fr-FR" dirty="0"/>
              <a:t>, </a:t>
            </a:r>
            <a:r>
              <a:rPr lang="fr-FR" dirty="0" err="1"/>
              <a:t>boosting</a:t>
            </a:r>
            <a:r>
              <a:rPr lang="fr-FR" dirty="0"/>
              <a:t> and bagging.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fr-FR" dirty="0"/>
              <a:t>The goal </a:t>
            </a:r>
            <a:r>
              <a:rPr lang="fr-FR" dirty="0" err="1"/>
              <a:t>is</a:t>
            </a:r>
            <a:r>
              <a:rPr lang="fr-FR" dirty="0"/>
              <a:t> to have a final model </a:t>
            </a:r>
            <a:r>
              <a:rPr lang="fr-FR" dirty="0" err="1"/>
              <a:t>after</a:t>
            </a:r>
            <a:r>
              <a:rPr lang="fr-FR" dirty="0"/>
              <a:t> training all the </a:t>
            </a:r>
            <a:r>
              <a:rPr lang="fr-FR" dirty="0" err="1"/>
              <a:t>models</a:t>
            </a:r>
            <a:r>
              <a:rPr lang="fr-FR" dirty="0"/>
              <a:t> on the </a:t>
            </a:r>
            <a:r>
              <a:rPr lang="fr-FR" dirty="0" err="1"/>
              <a:t>dataset</a:t>
            </a:r>
            <a:r>
              <a:rPr lang="fr-FR" dirty="0"/>
              <a:t> picking </a:t>
            </a:r>
            <a:r>
              <a:rPr lang="fr-FR" dirty="0" err="1"/>
              <a:t>which</a:t>
            </a:r>
            <a:r>
              <a:rPr lang="fr-FR" dirty="0"/>
              <a:t> model </a:t>
            </a:r>
            <a:r>
              <a:rPr lang="fr-FR" dirty="0" err="1"/>
              <a:t>fits</a:t>
            </a:r>
            <a:r>
              <a:rPr lang="fr-FR" dirty="0"/>
              <a:t> best for a </a:t>
            </a:r>
            <a:r>
              <a:rPr lang="fr-FR" dirty="0" err="1"/>
              <a:t>given</a:t>
            </a:r>
            <a:r>
              <a:rPr lang="fr-FR" dirty="0"/>
              <a:t> </a:t>
            </a:r>
            <a:r>
              <a:rPr lang="fr-FR" dirty="0" err="1"/>
              <a:t>task</a:t>
            </a:r>
            <a:r>
              <a:rPr lang="fr-FR" dirty="0"/>
              <a:t>.</a:t>
            </a:r>
            <a:endParaRPr dirty="0"/>
          </a:p>
        </p:txBody>
      </p:sp>
      <p:sp>
        <p:nvSpPr>
          <p:cNvPr id="196" name="Google Shape;196;p9:notes">
            <a:extLst>
              <a:ext uri="{FF2B5EF4-FFF2-40B4-BE49-F238E27FC236}">
                <a16:creationId xmlns:a16="http://schemas.microsoft.com/office/drawing/2014/main" id="{374A3023-74D2-0208-99BD-8B58010BC1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2858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16693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Supervised Learning </a:t>
            </a:r>
            <a:r>
              <a:rPr lang="en-US" sz="6000" b="1" i="0" u="none" strike="noStrike" cap="none" dirty="0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Part 2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290887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Class 4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16718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SVM, Decision Trees, and Ensemble Methods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95275" y="2486025"/>
            <a:ext cx="11601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Recap of Part 1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619750" y="3409950"/>
            <a:ext cx="9525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295275" y="2486025"/>
            <a:ext cx="11601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Support Vector Machines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5619750" y="3409950"/>
            <a:ext cx="9525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3848100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Search for the Optimal Hyperplane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Maximum Margin Classifiers</a:t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571500" y="2528887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SVMs find a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hyperplane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that separates classes with the largest possible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margin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112" name="Google Shape;11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669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952500" y="3367087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Support Vectors: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Data points closest to the hyperplane that define the margin.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952500" y="4205287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Hard Margin: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No misclassifications allowed (perfect separation).</a:t>
            </a:r>
            <a:endParaRPr dirty="0"/>
          </a:p>
        </p:txBody>
      </p:sp>
      <p:sp>
        <p:nvSpPr>
          <p:cNvPr id="118" name="Google Shape;118;p16"/>
          <p:cNvSpPr txBox="1"/>
          <p:nvPr/>
        </p:nvSpPr>
        <p:spPr>
          <a:xfrm>
            <a:off x="952500" y="5057774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Soft Margin: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Allows some violations to handle noise and overlapping data.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309937"/>
            <a:ext cx="5238750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Kernel Trick</a:t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571500" y="2767012"/>
            <a:ext cx="5238750" cy="145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571500" y="4433887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Popular Kernel Types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6381750" y="16287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Mapping to Higher Dimensions</a:t>
            </a:r>
            <a:endParaRPr dirty="0"/>
          </a:p>
        </p:txBody>
      </p:sp>
      <p:sp>
        <p:nvSpPr>
          <p:cNvPr id="130" name="Google Shape;130;p17"/>
          <p:cNvSpPr txBox="1"/>
          <p:nvPr/>
        </p:nvSpPr>
        <p:spPr>
          <a:xfrm>
            <a:off x="6381750" y="2057400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When data is not linearly separable, kernels project data into a higher-dimensional space where a linear split is possible.</a:t>
            </a:r>
            <a:endParaRPr dirty="0"/>
          </a:p>
        </p:txBody>
      </p:sp>
      <p:sp>
        <p:nvSpPr>
          <p:cNvPr id="131" name="Google Shape;131;p17"/>
          <p:cNvSpPr txBox="1"/>
          <p:nvPr/>
        </p:nvSpPr>
        <p:spPr>
          <a:xfrm>
            <a:off x="6677025" y="3814762"/>
            <a:ext cx="4648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1. Polynomial: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Captures feature interactions.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6677025" y="4748212"/>
            <a:ext cx="46482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2. RBF (Gaussian):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Handles complex, non-linear boundaries.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295275" y="2486025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Decision &amp; Regression Trees</a:t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5619750" y="3409950"/>
            <a:ext cx="9525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571500" y="384810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Recursive Partitioning of the Feature Space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Anatomy of a Decision Tree</a:t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669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838200" y="2605087"/>
            <a:ext cx="1143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952500" y="2605087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Root Node: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Represents the entire population/sample.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838200" y="3233737"/>
            <a:ext cx="1143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952500" y="3233737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Internal Nodes: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Points where the data is split based on a feature test.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838200" y="3862387"/>
            <a:ext cx="1143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952500" y="3862387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Leaf Nodes: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Final predicted class or value; no further splits.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838200" y="4491037"/>
            <a:ext cx="1143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952500" y="4491037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Recursive Splits: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Dividing space into rectangular regions.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22846"/>
            <a:ext cx="3492400" cy="4079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0126" y="1822846"/>
            <a:ext cx="3492549" cy="4079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1822846"/>
            <a:ext cx="3492400" cy="4079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318271"/>
            <a:ext cx="1942951" cy="73580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Impurity and Splitting Rules</a:t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11812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866775" y="2689621"/>
            <a:ext cx="304694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Gini Index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866775" y="4454128"/>
            <a:ext cx="29018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Measures how often a randomly chosen element would be incorrectly labeled.</a:t>
            </a:r>
            <a:endParaRPr/>
          </a:p>
        </p:txBody>
      </p:sp>
      <p:pic>
        <p:nvPicPr>
          <p:cNvPr id="174" name="Google Shape;174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4925" y="2118121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4644925" y="2613277"/>
            <a:ext cx="304709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Entropy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4644925" y="4454128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Measures the uncertainty or disorder in the data distribution.</a:t>
            </a:r>
            <a:endParaRPr/>
          </a:p>
        </p:txBody>
      </p:sp>
      <p:pic>
        <p:nvPicPr>
          <p:cNvPr id="177" name="Google Shape;177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225" y="211812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8423225" y="2689621"/>
            <a:ext cx="304694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Classification Error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8423225" y="3194446"/>
            <a:ext cx="290185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Defined as 1 minus the max probability of a class. Less sensitive to node purity than Gini or Entropy.</a:t>
            </a:r>
            <a:endParaRPr/>
          </a:p>
        </p:txBody>
      </p:sp>
      <p:pic>
        <p:nvPicPr>
          <p:cNvPr id="180" name="Google Shape;180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6800" y="3518296"/>
            <a:ext cx="1542901" cy="335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11612" y="3182540"/>
            <a:ext cx="1390947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62">
          <a:extLst>
            <a:ext uri="{FF2B5EF4-FFF2-40B4-BE49-F238E27FC236}">
              <a16:creationId xmlns:a16="http://schemas.microsoft.com/office/drawing/2014/main" id="{D90284C8-D520-8BB3-B1C2-3DD136FB0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0" descr="image.png">
            <a:extLst>
              <a:ext uri="{FF2B5EF4-FFF2-40B4-BE49-F238E27FC236}">
                <a16:creationId xmlns:a16="http://schemas.microsoft.com/office/drawing/2014/main" id="{47342B42-EC22-D2AF-0EB0-4B07C16DAC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22846"/>
            <a:ext cx="3492400" cy="4079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 descr="image.png">
            <a:extLst>
              <a:ext uri="{FF2B5EF4-FFF2-40B4-BE49-F238E27FC236}">
                <a16:creationId xmlns:a16="http://schemas.microsoft.com/office/drawing/2014/main" id="{2C201AEA-785D-8E37-88F5-20CACFCB49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950" y="1822846"/>
            <a:ext cx="3492400" cy="4079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 descr="image.png">
            <a:extLst>
              <a:ext uri="{FF2B5EF4-FFF2-40B4-BE49-F238E27FC236}">
                <a16:creationId xmlns:a16="http://schemas.microsoft.com/office/drawing/2014/main" id="{7B7BF05C-6AA8-A5CF-B28E-455E78EA64F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3318271"/>
            <a:ext cx="1942951" cy="73580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>
            <a:extLst>
              <a:ext uri="{FF2B5EF4-FFF2-40B4-BE49-F238E27FC236}">
                <a16:creationId xmlns:a16="http://schemas.microsoft.com/office/drawing/2014/main" id="{FA02ECB9-2B56-C0E7-154B-9526CD55A66A}"/>
              </a:ext>
            </a:extLst>
          </p:cNvPr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000" b="1" dirty="0">
                <a:solidFill>
                  <a:srgbClr val="4ADE80"/>
                </a:solidFill>
                <a:latin typeface="Space Grotesk"/>
                <a:cs typeface="Space Grotesk"/>
                <a:sym typeface="Space Grotesk"/>
              </a:rPr>
              <a:t>R</a:t>
            </a:r>
            <a:r>
              <a:rPr lang="en-US" sz="3000" b="1" dirty="0">
                <a:solidFill>
                  <a:srgbClr val="4ADE80"/>
                </a:solidFill>
                <a:latin typeface="Space Grotesk"/>
                <a:cs typeface="Space Grotesk"/>
                <a:sym typeface="Space Grotesk"/>
              </a:rPr>
              <a:t>egression</a:t>
            </a:r>
            <a:endParaRPr dirty="0"/>
          </a:p>
        </p:txBody>
      </p:sp>
      <p:sp>
        <p:nvSpPr>
          <p:cNvPr id="170" name="Google Shape;170;p20">
            <a:extLst>
              <a:ext uri="{FF2B5EF4-FFF2-40B4-BE49-F238E27FC236}">
                <a16:creationId xmlns:a16="http://schemas.microsoft.com/office/drawing/2014/main" id="{28672700-452A-0029-2D4A-7DBFE7419AA2}"/>
              </a:ext>
            </a:extLst>
          </p:cNvPr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20" descr="image.png">
            <a:extLst>
              <a:ext uri="{FF2B5EF4-FFF2-40B4-BE49-F238E27FC236}">
                <a16:creationId xmlns:a16="http://schemas.microsoft.com/office/drawing/2014/main" id="{B6C2357F-D735-27EB-CFA3-0F426A884D0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211812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>
            <a:extLst>
              <a:ext uri="{FF2B5EF4-FFF2-40B4-BE49-F238E27FC236}">
                <a16:creationId xmlns:a16="http://schemas.microsoft.com/office/drawing/2014/main" id="{BAF4B614-29C8-EBF9-2701-DE81319F1E5B}"/>
              </a:ext>
            </a:extLst>
          </p:cNvPr>
          <p:cNvSpPr txBox="1"/>
          <p:nvPr/>
        </p:nvSpPr>
        <p:spPr>
          <a:xfrm>
            <a:off x="866775" y="2689621"/>
            <a:ext cx="304694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bg1"/>
                </a:solidFill>
              </a:rPr>
              <a:t>MSE</a:t>
            </a:r>
            <a:endParaRPr dirty="0"/>
          </a:p>
        </p:txBody>
      </p:sp>
      <p:sp>
        <p:nvSpPr>
          <p:cNvPr id="173" name="Google Shape;173;p20">
            <a:extLst>
              <a:ext uri="{FF2B5EF4-FFF2-40B4-BE49-F238E27FC236}">
                <a16:creationId xmlns:a16="http://schemas.microsoft.com/office/drawing/2014/main" id="{7E355319-96A9-3310-A7EB-42BEB1634059}"/>
              </a:ext>
            </a:extLst>
          </p:cNvPr>
          <p:cNvSpPr txBox="1"/>
          <p:nvPr/>
        </p:nvSpPr>
        <p:spPr>
          <a:xfrm>
            <a:off x="866775" y="4454128"/>
            <a:ext cx="29018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Measures how often a randomly chosen element would be incorrectly labeled.</a:t>
            </a:r>
            <a:endParaRPr dirty="0"/>
          </a:p>
        </p:txBody>
      </p:sp>
      <p:pic>
        <p:nvPicPr>
          <p:cNvPr id="177" name="Google Shape;177;p20" descr="image.png">
            <a:extLst>
              <a:ext uri="{FF2B5EF4-FFF2-40B4-BE49-F238E27FC236}">
                <a16:creationId xmlns:a16="http://schemas.microsoft.com/office/drawing/2014/main" id="{9261CB07-07F8-3A73-4BD6-C6FB83CF4AE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23225" y="211812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>
            <a:extLst>
              <a:ext uri="{FF2B5EF4-FFF2-40B4-BE49-F238E27FC236}">
                <a16:creationId xmlns:a16="http://schemas.microsoft.com/office/drawing/2014/main" id="{B177A03A-EDE6-1C5C-EF56-BC3E599DEF73}"/>
              </a:ext>
            </a:extLst>
          </p:cNvPr>
          <p:cNvSpPr txBox="1"/>
          <p:nvPr/>
        </p:nvSpPr>
        <p:spPr>
          <a:xfrm>
            <a:off x="8423225" y="2689621"/>
            <a:ext cx="30469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dirty="0">
                <a:solidFill>
                  <a:srgbClr val="F8FAFC"/>
                </a:solidFill>
                <a:latin typeface="Space Grotesk"/>
                <a:cs typeface="Space Grotesk"/>
                <a:sym typeface="Space Grotesk"/>
              </a:rPr>
              <a:t>S</a:t>
            </a:r>
            <a:r>
              <a:rPr lang="en-US" sz="1800" b="1" dirty="0" err="1">
                <a:solidFill>
                  <a:srgbClr val="F8FAFC"/>
                </a:solidFill>
                <a:latin typeface="Space Grotesk"/>
                <a:cs typeface="Space Grotesk"/>
                <a:sym typeface="Space Grotesk"/>
              </a:rPr>
              <a:t>tandard</a:t>
            </a:r>
            <a:r>
              <a:rPr lang="en-US" sz="1800" b="1" dirty="0">
                <a:solidFill>
                  <a:srgbClr val="F8FAFC"/>
                </a:solidFill>
                <a:latin typeface="Space Grotesk"/>
                <a:cs typeface="Space Grotesk"/>
                <a:sym typeface="Space Grotesk"/>
              </a:rPr>
              <a:t> Deviation</a:t>
            </a:r>
            <a:endParaRPr dirty="0"/>
          </a:p>
        </p:txBody>
      </p:sp>
      <p:sp>
        <p:nvSpPr>
          <p:cNvPr id="179" name="Google Shape;179;p20">
            <a:extLst>
              <a:ext uri="{FF2B5EF4-FFF2-40B4-BE49-F238E27FC236}">
                <a16:creationId xmlns:a16="http://schemas.microsoft.com/office/drawing/2014/main" id="{37E48E62-55A8-B32F-4CF0-8B2A91A8425E}"/>
              </a:ext>
            </a:extLst>
          </p:cNvPr>
          <p:cNvSpPr txBox="1"/>
          <p:nvPr/>
        </p:nvSpPr>
        <p:spPr>
          <a:xfrm>
            <a:off x="8423225" y="3194446"/>
            <a:ext cx="2901850" cy="15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5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T</a:t>
            </a:r>
            <a:r>
              <a:rPr lang="en-US" sz="165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he tree splits where we can mostly reduce the standard deviation (square root of the variance).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607CA58-691A-2683-E1D1-5E20532BB8A7}"/>
                  </a:ext>
                </a:extLst>
              </p:cNvPr>
              <p:cNvSpPr txBox="1"/>
              <p:nvPr/>
            </p:nvSpPr>
            <p:spPr>
              <a:xfrm>
                <a:off x="956344" y="3433873"/>
                <a:ext cx="1853381" cy="5217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1/</m:t>
                      </m:r>
                      <m:r>
                        <m:rPr>
                          <m:sty m:val="p"/>
                        </m:rPr>
                        <a:rPr lang="fr-F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bg1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bg1"/>
                              </a:solidFill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bg1"/>
                              </a:solidFill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bg1"/>
                              </a:solidFill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fr-FR" b="0" i="0" dirty="0" smtClean="0">
                              <a:solidFill>
                                <a:schemeClr val="bg1"/>
                              </a:solidFill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fr-FR" b="0" i="0" dirty="0" smtClean="0">
                              <a:solidFill>
                                <a:schemeClr val="bg1"/>
                              </a:solidFill>
                            </a:rPr>
                            <m:t>hat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bg1"/>
                              </a:solidFill>
                            </a:rPr>
                            <m:t>)2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607CA58-691A-2683-E1D1-5E20532BB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44" y="3433873"/>
                <a:ext cx="1853381" cy="521746"/>
              </a:xfrm>
              <a:prstGeom prst="rect">
                <a:avLst/>
              </a:prstGeom>
              <a:blipFill>
                <a:blip r:embed="rId7"/>
                <a:stretch>
                  <a:fillRect l="-6579" t="-144186" r="-13487" b="-20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9468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76462"/>
            <a:ext cx="523875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Pruning: Avoiding Overfitting</a:t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571500" y="2152054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Cost-Complexity Pruning</a:t>
            </a:r>
            <a:endParaRPr dirty="0"/>
          </a:p>
        </p:txBody>
      </p:sp>
      <p:sp>
        <p:nvSpPr>
          <p:cNvPr id="191" name="Google Shape;191;p21"/>
          <p:cNvSpPr txBox="1"/>
          <p:nvPr/>
        </p:nvSpPr>
        <p:spPr>
          <a:xfrm>
            <a:off x="571500" y="2580679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Large trees suffer from high variance. Pruning simplifies trees to improve generalizability.</a:t>
            </a:r>
            <a:endParaRPr dirty="0"/>
          </a:p>
        </p:txBody>
      </p:sp>
      <p:sp>
        <p:nvSpPr>
          <p:cNvPr id="192" name="Google Shape;192;p21"/>
          <p:cNvSpPr txBox="1"/>
          <p:nvPr/>
        </p:nvSpPr>
        <p:spPr>
          <a:xfrm>
            <a:off x="571500" y="4734520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Alpha (α):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regularization parameter controlling the trade-off between fit and size.</a:t>
            </a:r>
            <a:endParaRPr/>
          </a:p>
        </p:txBody>
      </p:sp>
      <p:pic>
        <p:nvPicPr>
          <p:cNvPr id="193" name="Google Shape;19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3847504"/>
            <a:ext cx="2580084" cy="286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295275" y="2486025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Ensemble Methods</a:t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5619750" y="3409950"/>
            <a:ext cx="9525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571500" y="384810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Combining Models for Superior Accuracy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Bagging &amp; Random Forest</a:t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571500" y="2424112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Bagging: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Bootstrap Aggregation. Training multiple trees on different data subsets in parallel.</a:t>
            </a:r>
            <a:endParaRPr dirty="0"/>
          </a:p>
        </p:txBody>
      </p:sp>
      <p:sp>
        <p:nvSpPr>
          <p:cNvPr id="211" name="Google Shape;211;p23"/>
          <p:cNvSpPr txBox="1"/>
          <p:nvPr/>
        </p:nvSpPr>
        <p:spPr>
          <a:xfrm>
            <a:off x="571500" y="3262312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Random Forest: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Adds </a:t>
            </a:r>
            <a:r>
              <a:rPr lang="en-US" sz="165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feature randomness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to Bagging.</a:t>
            </a:r>
            <a:endParaRPr/>
          </a:p>
        </p:txBody>
      </p:sp>
      <p:pic>
        <p:nvPicPr>
          <p:cNvPr id="212" name="Google Shape;21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669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/>
        </p:nvSpPr>
        <p:spPr>
          <a:xfrm>
            <a:off x="838200" y="4100512"/>
            <a:ext cx="1143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952500" y="4100512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Only a random subset of features is considered at each split.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838200" y="4729162"/>
            <a:ext cx="1143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952500" y="4729162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De-correlates trees, leading to massive variance reduction.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4"/>
          <p:cNvSpPr txBox="1"/>
          <p:nvPr/>
        </p:nvSpPr>
        <p:spPr>
          <a:xfrm>
            <a:off x="762000" y="571500"/>
            <a:ext cx="50006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Boosting</a:t>
            </a:r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571500" y="2152650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Unlike Bagging, Boosting is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sequential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Each new model attempts to correct the errors of the previous one.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571500" y="3305175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Key Algorithms:</a:t>
            </a:r>
            <a:endParaRPr/>
          </a:p>
        </p:txBody>
      </p:sp>
      <p:sp>
        <p:nvSpPr>
          <p:cNvPr id="227" name="Google Shape;227;p24"/>
          <p:cNvSpPr txBox="1"/>
          <p:nvPr/>
        </p:nvSpPr>
        <p:spPr>
          <a:xfrm>
            <a:off x="571500" y="5295900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Strongly reduces both bias and variance.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838200" y="3829050"/>
            <a:ext cx="1143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952500" y="3829050"/>
            <a:ext cx="4572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AdaBoost: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Increases weight of misclassified points.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838200" y="4457700"/>
            <a:ext cx="1143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952500" y="4457700"/>
            <a:ext cx="4572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Gradient Boosting: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Fits new models to the </a:t>
            </a:r>
            <a:r>
              <a:rPr lang="en-US" sz="165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residuals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of prior models.</a:t>
            </a:r>
            <a:endParaRPr/>
          </a:p>
        </p:txBody>
      </p:sp>
      <p:pic>
        <p:nvPicPr>
          <p:cNvPr id="2050" name="Picture 2" descr="What is boosting in machine learning? - TechTalks">
            <a:extLst>
              <a:ext uri="{FF2B5EF4-FFF2-40B4-BE49-F238E27FC236}">
                <a16:creationId xmlns:a16="http://schemas.microsoft.com/office/drawing/2014/main" id="{29374417-35EF-1C64-BA9A-ED1C1D5D2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04975"/>
            <a:ext cx="5217751" cy="424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97">
          <a:extLst>
            <a:ext uri="{FF2B5EF4-FFF2-40B4-BE49-F238E27FC236}">
              <a16:creationId xmlns:a16="http://schemas.microsoft.com/office/drawing/2014/main" id="{514394EA-C741-2584-FC37-A47681275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oosting">
            <a:extLst>
              <a:ext uri="{FF2B5EF4-FFF2-40B4-BE49-F238E27FC236}">
                <a16:creationId xmlns:a16="http://schemas.microsoft.com/office/drawing/2014/main" id="{90FCBB19-D6C5-5C58-D668-290A54A2D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760021"/>
            <a:ext cx="10982325" cy="5250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4107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97">
          <a:extLst>
            <a:ext uri="{FF2B5EF4-FFF2-40B4-BE49-F238E27FC236}">
              <a16:creationId xmlns:a16="http://schemas.microsoft.com/office/drawing/2014/main" id="{DC4865E9-9221-BB75-B3EE-EBB7F61A0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2" descr="image.png">
            <a:extLst>
              <a:ext uri="{FF2B5EF4-FFF2-40B4-BE49-F238E27FC236}">
                <a16:creationId xmlns:a16="http://schemas.microsoft.com/office/drawing/2014/main" id="{EA8C861C-5CC9-AAA8-A55B-6761A65839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>
            <a:extLst>
              <a:ext uri="{FF2B5EF4-FFF2-40B4-BE49-F238E27FC236}">
                <a16:creationId xmlns:a16="http://schemas.microsoft.com/office/drawing/2014/main" id="{D3022C6F-2D79-6ED9-801A-16911C6C7C34}"/>
              </a:ext>
            </a:extLst>
          </p:cNvPr>
          <p:cNvSpPr txBox="1"/>
          <p:nvPr/>
        </p:nvSpPr>
        <p:spPr>
          <a:xfrm>
            <a:off x="295275" y="2486025"/>
            <a:ext cx="116014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F8FAFC"/>
                </a:solidFill>
                <a:latin typeface="Space Grotesk"/>
                <a:cs typeface="Space Grotesk"/>
                <a:sym typeface="Space Grotesk"/>
              </a:rPr>
              <a:t>S</a:t>
            </a:r>
            <a:r>
              <a:rPr lang="en-US" sz="4500" b="1" dirty="0">
                <a:solidFill>
                  <a:srgbClr val="F8FAFC"/>
                </a:solidFill>
                <a:latin typeface="Space Grotesk"/>
                <a:cs typeface="Space Grotesk"/>
                <a:sym typeface="Space Grotesk"/>
              </a:rPr>
              <a:t>tacking</a:t>
            </a:r>
            <a:endParaRPr dirty="0"/>
          </a:p>
        </p:txBody>
      </p:sp>
      <p:sp>
        <p:nvSpPr>
          <p:cNvPr id="200" name="Google Shape;200;p22">
            <a:extLst>
              <a:ext uri="{FF2B5EF4-FFF2-40B4-BE49-F238E27FC236}">
                <a16:creationId xmlns:a16="http://schemas.microsoft.com/office/drawing/2014/main" id="{D267A624-D827-1E74-8244-8A1BDCAE7A58}"/>
              </a:ext>
            </a:extLst>
          </p:cNvPr>
          <p:cNvSpPr/>
          <p:nvPr/>
        </p:nvSpPr>
        <p:spPr>
          <a:xfrm>
            <a:off x="5619750" y="3409950"/>
            <a:ext cx="9525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>
            <a:extLst>
              <a:ext uri="{FF2B5EF4-FFF2-40B4-BE49-F238E27FC236}">
                <a16:creationId xmlns:a16="http://schemas.microsoft.com/office/drawing/2014/main" id="{3E256E50-460C-E164-9BE2-9C45E550554A}"/>
              </a:ext>
            </a:extLst>
          </p:cNvPr>
          <p:cNvSpPr txBox="1"/>
          <p:nvPr/>
        </p:nvSpPr>
        <p:spPr>
          <a:xfrm>
            <a:off x="571500" y="3848100"/>
            <a:ext cx="110490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5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H</a:t>
            </a:r>
            <a:r>
              <a:rPr lang="en-US" sz="1650" dirty="0" err="1">
                <a:solidFill>
                  <a:srgbClr val="94A3B8"/>
                </a:solidFill>
                <a:latin typeface="Inter"/>
                <a:ea typeface="Inter"/>
                <a:sym typeface="Inter"/>
              </a:rPr>
              <a:t>aving</a:t>
            </a:r>
            <a:r>
              <a:rPr lang="en-US" sz="165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 a hierarchy of models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1052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97">
          <a:extLst>
            <a:ext uri="{FF2B5EF4-FFF2-40B4-BE49-F238E27FC236}">
              <a16:creationId xmlns:a16="http://schemas.microsoft.com/office/drawing/2014/main" id="{D715E476-AD85-313C-B219-CFE8E867B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Stacking to Improve Model Performance: A Comprehensive Guide on ...">
            <a:extLst>
              <a:ext uri="{FF2B5EF4-FFF2-40B4-BE49-F238E27FC236}">
                <a16:creationId xmlns:a16="http://schemas.microsoft.com/office/drawing/2014/main" id="{1FABBB9E-58C2-C77D-1826-B0BF71C11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" y="1376363"/>
            <a:ext cx="10001250" cy="410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358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968</TotalTime>
  <Words>927</Words>
  <Application>Microsoft Office PowerPoint</Application>
  <PresentationFormat>Widescreen</PresentationFormat>
  <Paragraphs>85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Space Grotesk</vt:lpstr>
      <vt:lpstr>Calibri</vt:lpstr>
      <vt:lpstr>Inter</vt:lpstr>
      <vt:lpstr>Cambria Math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mouad zemzoumi</cp:lastModifiedBy>
  <cp:revision>11</cp:revision>
  <dcterms:modified xsi:type="dcterms:W3CDTF">2026-03-16T14:24:38Z</dcterms:modified>
</cp:coreProperties>
</file>